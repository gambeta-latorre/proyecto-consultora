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Diagramas de flujo del proyecto ASHAB y de Rumbo Global: primero explicados simple y después en detalle.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Convenciones de formas y colores.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 pedido con seña del 50 % hasta el mate en las casas de Medio Oriente, en seis pasos.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empresa nueva elige idioma, ingresa con Google, carga los datos de su empresa, espera la aprobación, pide cotización y paga la seña del 50 %.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Escuchar, analizar, planificar y ejecutar con control. El detalle de las 8 etapas está en el último diagrama.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decisión de exportar arranca el diagnóstico y la selección de países. Mientras el cliente adapta producto y marca, se tramitan registros y habilitaciones. Si el laboratorio o los certificados no aprueban, se corrige y se presenta de nuevo.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buscan importadores y se envían muestras. Si no les interesa, se ajusta la oferta. Si acepta las condiciones se firma el contrato y el banco abre la carta de crédito o recibe el pago anticipado: recién ahí se confirma la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cliente produce y la consultora arma los documentos. La aduana oficializa el permiso de embarque; si falta algo, se corrige. Tras el viaje, el importador aprueba o reclama (seguro). Con la aprobación se cobra el saldo y se cierra el embarque.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usuario toca «Continuar con Google». El servidor valida firma, emisor, vencimiento y email verificado; si algo falla, lo registra. Si todo está bien crea o actualiza el usuario y guarda el ingreso. Los precios y pedidos se habilitan cuando la empresa completa sus datos y el administrador la aprueba.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Después de la cotización se emite una proforma válida por 5 días. Sin la seña acreditada en el banco no se confirma el pedido, no se produce ni se reserva el contenedor. El saldo del 50 % se paga antes de cargar o contra la copia del B/L.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Ocho etapas con dos puntos de control: la aprobación del cliente antes de planificar y la verificación de objetivos antes de cerrar. Al final, la mejora continua abre un nuevo ciclo.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737360"/>
            <a:ext cx="10058400" cy="10972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5400" b="1" i="0">
                <a:solidFill>
                  <a:srgbClr val="C9A227"/>
                </a:solidFill>
                <a:latin typeface="Cambria"/>
              </a:rPr>
              <a:t>Diagramas de flujo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017520"/>
            <a:ext cx="10058400" cy="1463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Cómo funciona el proyecto ASHAB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0" i="0">
                <a:solidFill>
                  <a:srgbClr val="CFE0D6"/>
                </a:solidFill>
                <a:latin typeface="Calibri"/>
              </a:rPr>
              <a:t>Explicado simple y explicado en detalle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9FB8AA"/>
                </a:solidFill>
                <a:latin typeface="Calibri"/>
              </a:rPr>
              <a:t>Rumbo Global Consultores S.A.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22960"/>
          </a:xfrm>
        </p:spPr>
        <p:txBody>
          <a:bodyPr wrap="square" anchor="ctr" lIns="0" rIns="0"/>
          <a:lstStyle/>
          <a:p>
            <a:pPr algn="l"/>
            <a:r>
              <a:rPr sz="3400" b="1">
                <a:solidFill>
                  <a:srgbClr val="1B2A22"/>
                </a:solidFill>
                <a:latin typeface="Cambria"/>
              </a:rPr>
              <a:t>Cómo se leen los diagramas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737360"/>
            <a:ext cx="3017520" cy="1188720"/>
          </a:xfrm>
          <a:prstGeom prst="roundRect">
            <a:avLst>
              <a:gd name="adj" fmla="val 50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301752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1F4D3A"/>
                </a:solidFill>
                <a:latin typeface="Cambria"/>
              </a:rPr>
              <a:t>Inicio o fin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3017520" cy="7315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566259"/>
                </a:solidFill>
                <a:latin typeface="Calibri"/>
              </a:rPr>
              <a:t>Donde empieza o termina un proceso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737360"/>
            <a:ext cx="3017520" cy="11887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3810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0" y="3200400"/>
            <a:ext cx="301752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1F4D3A"/>
                </a:solidFill>
                <a:latin typeface="Cambria"/>
              </a:rPr>
              <a:t>Paso o tarea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703320"/>
            <a:ext cx="3017520" cy="7315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566259"/>
                </a:solidFill>
                <a:latin typeface="Calibri"/>
              </a:rPr>
              <a:t>Algo que alguien hace</a:t>
            </a:r>
          </a:p>
        </p:txBody>
      </p:sp>
      <p:sp>
        <p:nvSpPr>
          <p:cNvPr id="9" name="Diamond 8"/>
          <p:cNvSpPr/>
          <p:nvPr/>
        </p:nvSpPr>
        <p:spPr>
          <a:xfrm>
            <a:off x="8321040" y="1600200"/>
            <a:ext cx="3017520" cy="1463040"/>
          </a:xfrm>
          <a:prstGeom prst="diamond">
            <a:avLst/>
          </a:prstGeom>
          <a:solidFill>
            <a:srgbClr val="FCF4D6"/>
          </a:solidFill>
          <a:ln w="381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3200400"/>
            <a:ext cx="301752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1F4D3A"/>
                </a:solidFill>
                <a:latin typeface="Cambria"/>
              </a:rPr>
              <a:t>Decisión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703320"/>
            <a:ext cx="3017520" cy="7315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566259"/>
                </a:solidFill>
                <a:latin typeface="Calibri"/>
              </a:rPr>
              <a:t>Una pregunta con respuesta SÍ o 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0"/>
            <a:ext cx="10515600" cy="1463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0">
                <a:solidFill>
                  <a:srgbClr val="1B2A22"/>
                </a:solidFill>
                <a:latin typeface="Calibri"/>
              </a:rPr>
              <a:t>Las flechas muestran el orden. Las franjas horizontales (carriles) indican quién hace cada paso: el cliente, la consultora, los organismos, el transporte o el importador.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1B2A22"/>
                </a:solidFill>
                <a:latin typeface="Calibri"/>
              </a:rPr>
              <a:t>Los círculos numerados muestran el orden en los diagramas simples.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22960"/>
          </a:xfrm>
        </p:spPr>
        <p:txBody>
          <a:bodyPr wrap="square" anchor="ctr" lIns="0" rIns="0"/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Explicados simple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058400" cy="1463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0" i="0">
                <a:solidFill>
                  <a:srgbClr val="CFE0D6"/>
                </a:solidFill>
                <a:latin typeface="Calibri"/>
              </a:rPr>
              <a:t>Tres diagramas con pasos cortos y lenguaje cotidiano.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731520"/>
          </a:xfrm>
        </p:spPr>
        <p:txBody>
          <a:bodyPr wrap="square" anchor="ctr" lIns="0" rIns="0"/>
          <a:lstStyle/>
          <a:p>
            <a:pPr algn="l"/>
            <a:r>
              <a:rPr sz="3000" b="1">
                <a:solidFill>
                  <a:srgbClr val="1B2A22"/>
                </a:solidFill>
                <a:latin typeface="Cambria"/>
              </a:rPr>
              <a:t>Cómo funciona ASHAB: simple</a:t>
            </a:r>
          </a:p>
        </p:txBody>
      </p:sp>
      <p:pic>
        <p:nvPicPr>
          <p:cNvPr id="3" name="Picture 2" descr="Cómo funciona ASHAB: simp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830" y="1234440"/>
            <a:ext cx="10376033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806440"/>
            <a:ext cx="10881360" cy="8686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566259"/>
                </a:solidFill>
                <a:latin typeface="Calibri"/>
              </a:rPr>
              <a:t>Del pedido con seña del 50 % hasta el mate en las casas de Medio Oriente, en seis pasos.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731520"/>
          </a:xfrm>
        </p:spPr>
        <p:txBody>
          <a:bodyPr wrap="square" anchor="ctr" lIns="0" rIns="0"/>
          <a:lstStyle/>
          <a:p>
            <a:pPr algn="l"/>
            <a:r>
              <a:rPr sz="3000" b="1">
                <a:solidFill>
                  <a:srgbClr val="1B2A22"/>
                </a:solidFill>
                <a:latin typeface="Cambria"/>
              </a:rPr>
              <a:t>Cómo se usa la página web: simple</a:t>
            </a:r>
          </a:p>
        </p:txBody>
      </p:sp>
      <p:pic>
        <p:nvPicPr>
          <p:cNvPr id="3" name="Picture 2" descr="Cómo se usa la página web: simp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830" y="1234440"/>
            <a:ext cx="10376033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806440"/>
            <a:ext cx="10881360" cy="8686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566259"/>
                </a:solidFill>
                <a:latin typeface="Calibri"/>
              </a:rPr>
              <a:t>Una empresa nueva elige idioma, ingresa con Google, carga los datos de su empresa, espera la aprobación, pide cotización y paga la seña del 50 %.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731520"/>
          </a:xfrm>
        </p:spPr>
        <p:txBody>
          <a:bodyPr wrap="square" anchor="ctr" lIns="0" rIns="0"/>
          <a:lstStyle/>
          <a:p>
            <a:pPr algn="l"/>
            <a:r>
              <a:rPr sz="3000" b="1">
                <a:solidFill>
                  <a:srgbClr val="1B2A22"/>
                </a:solidFill>
                <a:latin typeface="Cambria"/>
              </a:rPr>
              <a:t>Cómo trabaja la consultora: simple</a:t>
            </a:r>
          </a:p>
        </p:txBody>
      </p:sp>
      <p:pic>
        <p:nvPicPr>
          <p:cNvPr id="3" name="Picture 2" descr="Cómo trabaja la consultora: simp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87" y="1234440"/>
            <a:ext cx="11247120" cy="24368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806440"/>
            <a:ext cx="10881360" cy="8686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566259"/>
                </a:solidFill>
                <a:latin typeface="Calibri"/>
              </a:rPr>
              <a:t>Escuchar, analizar, planificar y ejecutar con control. El detalle de las 8 etapas está en el último diagrama.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22960"/>
          </a:xfrm>
        </p:spPr>
        <p:txBody>
          <a:bodyPr wrap="square" anchor="ctr" lIns="0" rIns="0"/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Explicados en detalle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058400" cy="1463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0" i="0">
                <a:solidFill>
                  <a:srgbClr val="CFE0D6"/>
                </a:solidFill>
                <a:latin typeface="Calibri"/>
              </a:rPr>
              <a:t>Seis diagramas con carriles, decisiones y correcciones: quién hace qué y qué pasa si algo sale mal.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731520"/>
          </a:xfrm>
        </p:spPr>
        <p:txBody>
          <a:bodyPr wrap="square" anchor="ctr" lIns="0" rIns="0"/>
          <a:lstStyle/>
          <a:p>
            <a:pPr algn="l"/>
            <a:r>
              <a:rPr sz="3000" b="1">
                <a:solidFill>
                  <a:srgbClr val="1B2A22"/>
                </a:solidFill>
                <a:latin typeface="Cambria"/>
              </a:rPr>
              <a:t>Detalle 1: preparación y habilitaciones</a:t>
            </a:r>
          </a:p>
        </p:txBody>
      </p:sp>
      <p:pic>
        <p:nvPicPr>
          <p:cNvPr id="3" name="Picture 2" descr="Detalle 1: preparación y habilitacion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87" y="1234440"/>
            <a:ext cx="11247120" cy="43631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806440"/>
            <a:ext cx="10881360" cy="8686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566259"/>
                </a:solidFill>
                <a:latin typeface="Calibri"/>
              </a:rPr>
              <a:t>La decisión de exportar arranca el diagnóstico y la selección de países. Mientras el cliente adapta producto y marca, se tramitan registros y habilitaciones. Si el laboratorio o los certificados no aprueban, se corrige y se presenta de nuevo.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731520"/>
          </a:xfrm>
        </p:spPr>
        <p:txBody>
          <a:bodyPr wrap="square" anchor="ctr" lIns="0" rIns="0"/>
          <a:lstStyle/>
          <a:p>
            <a:pPr algn="l"/>
            <a:r>
              <a:rPr sz="3000" b="1">
                <a:solidFill>
                  <a:srgbClr val="1B2A22"/>
                </a:solidFill>
                <a:latin typeface="Cambria"/>
              </a:rPr>
              <a:t>Detalle 2: negociación y cierre comercial</a:t>
            </a:r>
          </a:p>
        </p:txBody>
      </p:sp>
      <p:pic>
        <p:nvPicPr>
          <p:cNvPr id="3" name="Picture 2" descr="Detalle 2: negociación y cierre comerci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87" y="1234440"/>
            <a:ext cx="11247120" cy="35393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806440"/>
            <a:ext cx="10881360" cy="8686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566259"/>
                </a:solidFill>
                <a:latin typeface="Calibri"/>
              </a:rPr>
              <a:t>Se buscan importadores y se envían muestras. Si no les interesa, se ajusta la oferta. Si acepta las condiciones se firma el contrato y el banco abre la carta de crédito o recibe el pago anticipado: recién ahí se confirma la producción.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731520"/>
          </a:xfrm>
        </p:spPr>
        <p:txBody>
          <a:bodyPr wrap="square" anchor="ctr" lIns="0" rIns="0"/>
          <a:lstStyle/>
          <a:p>
            <a:pPr algn="l"/>
            <a:r>
              <a:rPr sz="3000" b="1">
                <a:solidFill>
                  <a:srgbClr val="1B2A22"/>
                </a:solidFill>
                <a:latin typeface="Cambria"/>
              </a:rPr>
              <a:t>Detalle 3: logística, aduana y cobranza</a:t>
            </a:r>
          </a:p>
        </p:txBody>
      </p:sp>
      <p:pic>
        <p:nvPicPr>
          <p:cNvPr id="3" name="Picture 2" descr="Detalle 3: logística, aduana y cobranz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08" y="1234440"/>
            <a:ext cx="10040477" cy="4434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806440"/>
            <a:ext cx="10881360" cy="8686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566259"/>
                </a:solidFill>
                <a:latin typeface="Calibri"/>
              </a:rPr>
              <a:t>El cliente produce y la consultora arma los documentos. La aduana oficializa el permiso de embarque; si falta algo, se corrige. Tras el viaje, el importador aprueba o reclama (seguro). Con la aprobación se cobra el saldo y se cierra el embarque.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731520"/>
          </a:xfrm>
        </p:spPr>
        <p:txBody>
          <a:bodyPr wrap="square" anchor="ctr" lIns="0" rIns="0"/>
          <a:lstStyle/>
          <a:p>
            <a:pPr algn="l"/>
            <a:r>
              <a:rPr sz="3000" b="1">
                <a:solidFill>
                  <a:srgbClr val="1B2A22"/>
                </a:solidFill>
                <a:latin typeface="Cambria"/>
              </a:rPr>
              <a:t>Detalle 4: ingreso con Google y aprobación de la empresa</a:t>
            </a:r>
          </a:p>
        </p:txBody>
      </p:sp>
      <p:pic>
        <p:nvPicPr>
          <p:cNvPr id="3" name="Picture 2" descr="Detalle 4: ingreso con Google y aprobación de la empres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87" y="1234440"/>
            <a:ext cx="11247120" cy="41213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806440"/>
            <a:ext cx="10881360" cy="8686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566259"/>
                </a:solidFill>
                <a:latin typeface="Calibri"/>
              </a:rPr>
              <a:t>El usuario toca «Continuar con Google». El servidor valida firma, emisor, vencimiento y email verificado; si algo falla, lo registra. Si todo está bien crea o actualiza el usuario y guarda el ingreso. Los precios y pedidos se habilitan cuando la empresa completa sus datos y el administrador la aprueba.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731520"/>
          </a:xfrm>
        </p:spPr>
        <p:txBody>
          <a:bodyPr wrap="square" anchor="ctr" lIns="0" rIns="0"/>
          <a:lstStyle/>
          <a:p>
            <a:pPr algn="l"/>
            <a:r>
              <a:rPr sz="3000" b="1">
                <a:solidFill>
                  <a:srgbClr val="1B2A22"/>
                </a:solidFill>
                <a:latin typeface="Cambria"/>
              </a:rPr>
              <a:t>Detalle 5: pedido con seña del 50 %</a:t>
            </a:r>
          </a:p>
        </p:txBody>
      </p:sp>
      <p:pic>
        <p:nvPicPr>
          <p:cNvPr id="3" name="Picture 2" descr="Detalle 5: pedido con seña del 50 %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87" y="1234440"/>
            <a:ext cx="11247120" cy="32652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806440"/>
            <a:ext cx="10881360" cy="8686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566259"/>
                </a:solidFill>
                <a:latin typeface="Calibri"/>
              </a:rPr>
              <a:t>Después de la cotización se emite una proforma válida por 5 días. Sin la seña acreditada en el banco no se confirma el pedido, no se produce ni se reserva el contenedor. El saldo del 50 % se paga antes de cargar o contra la copia del B/L.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731520"/>
          </a:xfrm>
        </p:spPr>
        <p:txBody>
          <a:bodyPr wrap="square" anchor="ctr" lIns="0" rIns="0"/>
          <a:lstStyle/>
          <a:p>
            <a:pPr algn="l"/>
            <a:r>
              <a:rPr sz="3000" b="1">
                <a:solidFill>
                  <a:srgbClr val="1B2A22"/>
                </a:solidFill>
                <a:latin typeface="Cambria"/>
              </a:rPr>
              <a:t>Detalle 6: ciclo de trabajo de la consultora</a:t>
            </a:r>
          </a:p>
        </p:txBody>
      </p:sp>
      <p:pic>
        <p:nvPicPr>
          <p:cNvPr id="3" name="Picture 2" descr="Detalle 6: ciclo de trabajo de la consultor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87" y="1234440"/>
            <a:ext cx="11247120" cy="42176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806440"/>
            <a:ext cx="10881360" cy="8686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566259"/>
                </a:solidFill>
                <a:latin typeface="Calibri"/>
              </a:rPr>
              <a:t>Ocho etapas con dos puntos de control: la aprobación del cliente antes de planificar y la verificación de objetivos antes de cerrar. Al final, la mejora continua abre un nuevo ciclo.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