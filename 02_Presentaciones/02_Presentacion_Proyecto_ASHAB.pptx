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/>
              <a:t>Destino de la yerba mate argentina (% aprox.)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</c:v>
                </c:pt>
              </c:strCache>
            </c:strRef>
          </c:tx>
          <c:dPt>
            <c:idx val="0"/>
            <c:spPr>
              <a:solidFill>
                <a:srgbClr val="1F4D3A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cat>
            <c:strRef>
              <c:f>Sheet1!$A$2:$A$3</c:f>
              <c:strCache>
                <c:ptCount val="2"/>
                <c:pt idx="0">
                  <c:v>Siria y Líbano</c:v>
                </c:pt>
                <c:pt idx="1">
                  <c:v>Resto de destinos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Inversión por rubro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1F4D3A"/>
            </a:solidFill>
          </c:spPr>
          <c:cat>
            <c:strRef>
              <c:f>Sheet1!$A$2:$A$7</c:f>
              <c:strCache>
                <c:ptCount val="6"/>
                <c:pt idx="0">
                  <c:v>Seguro e imprevistos</c:v>
                </c:pt>
                <c:pt idx="1">
                  <c:v>Prospección, muestras y feria</c:v>
                </c:pt>
                <c:pt idx="2">
                  <c:v>Web y sistema</c:v>
                </c:pt>
                <c:pt idx="3">
                  <c:v>Habilitaciones y certificados</c:v>
                </c:pt>
                <c:pt idx="4">
                  <c:v>Marca y packaging</c:v>
                </c:pt>
                <c:pt idx="5">
                  <c:v>Estudio, plan y consultoría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5610</c:v>
                </c:pt>
                <c:pt idx="1">
                  <c:v>23000</c:v>
                </c:pt>
                <c:pt idx="2">
                  <c:v>6100</c:v>
                </c:pt>
                <c:pt idx="3">
                  <c:v>9300</c:v>
                </c:pt>
                <c:pt idx="4">
                  <c:v>10000</c:v>
                </c:pt>
                <c:pt idx="5">
                  <c:v>21800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Flujo de fondos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Flujo neto del año</c:v>
                </c:pt>
              </c:strCache>
            </c:strRef>
          </c:tx>
          <c:spPr>
            <a:solidFill>
              <a:srgbClr val="1F4D3A"/>
            </a:solidFill>
          </c:spP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-13056</c:v>
                </c:pt>
                <c:pt idx="1">
                  <c:v>119825</c:v>
                </c:pt>
                <c:pt idx="2">
                  <c:v>224414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Flujo acumulado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-13056</c:v>
                </c:pt>
                <c:pt idx="1">
                  <c:v>106768</c:v>
                </c:pt>
                <c:pt idx="2">
                  <c:v>331182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proyecto ASHAB: exportación de yerba mate argentina a Medio Oriente. Cliente ficticio con fines académicos.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Datos del INYM y de la Bolsa de Comercio de Rosario: 2024 fue récord de exportaciones de yerba 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Concentración en Siria y Líbano: por eso el proyecto diversifica con Jordania y Emiratos. En marzo de 2026 algunas navieras cancelaron reservas a Siria.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Siria, Líbano, Jordania y Emiratos Árabes Unidos: dos mercados históricos de consumo, una vía terrestre y un centro de reexportación.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ASHAB significa hierbas en árabe; al-Wahat significa el oasis. Cuatro productos para distribución mayorista.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pasos desde la yerbatera hasta el mate en la 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pasos para un cliente nuevo de la web de ASHAB.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sitio funciona en español, inglés y árabe, con lectura de derecha a izquierda.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fases superpuestas. El primer embarque sale entre los meses 6 y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paga una sola vez durante el primer año. Además se necesita capital de trabajo para financiar los primeros contenedores.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contenedor de 40 pies lleva 24 toneladas. El margen neto es 17% de la venta.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precio de planta al cobro. El precio de venta supera el promedio aduanero por la marca, el packaging bilingüe y la certificación.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Matriz de riesgos principal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decisiones que necesita el cliente para arrancar.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1051560"/>
            <a:ext cx="4754880" cy="475488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183880" y="1645920"/>
            <a:ext cx="3566160" cy="3566160"/>
          </a:xfrm>
          <a:prstGeom prst="ellipse">
            <a:avLst/>
          </a:prstGeom>
          <a:solidFill>
            <a:srgbClr val="24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778240" y="2240280"/>
            <a:ext cx="2377440" cy="2377440"/>
          </a:xfrm>
          <a:prstGeom prst="ellipse">
            <a:avLst/>
          </a:prstGeom>
          <a:solidFill>
            <a:srgbClr val="2B6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555480" y="3017520"/>
            <a:ext cx="822960" cy="8229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858000" cy="12801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0" b="1" i="0">
                <a:solidFill>
                  <a:srgbClr val="C9A227"/>
                </a:solidFill>
                <a:latin typeface="Cambria"/>
              </a:rPr>
              <a:t>ASHAB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85800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400"/>
              </a:spcAft>
            </a:pPr>
            <a:r>
              <a:rPr sz="4400" b="1" i="0" lang="ar-SA">
                <a:solidFill>
                  <a:srgbClr val="FFFFFF"/>
                </a:solidFill>
                <a:latin typeface="Arial"/>
                <a:cs typeface="Arial"/>
              </a:rPr>
              <a:t>أعشاب الواحة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685800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Yerba mate argentina para Medio Oriente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CFE0D6"/>
                </a:solidFill>
                <a:latin typeface="Calibri"/>
              </a:rPr>
              <a:t>Presentación del proyecto del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8AA"/>
                </a:solidFill>
                <a:latin typeface="Calibri"/>
              </a:rPr>
              <a:t>Asesorado por Rumbo Global Consultores S.A.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La oportunidad: Medio Oriente toma mate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474720" cy="2377440"/>
          </a:xfrm>
          <a:prstGeom prst="roundRect">
            <a:avLst>
              <a:gd name="adj" fmla="val 3076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017520" cy="10972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 i="0">
                <a:solidFill>
                  <a:srgbClr val="C9A227"/>
                </a:solidFill>
                <a:latin typeface="Cambria"/>
              </a:rPr>
              <a:t>+44 mil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3017520" cy="10058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exportadas por Argentina en 2024, un récord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474720" cy="2377440"/>
          </a:xfrm>
          <a:prstGeom prst="roundRect">
            <a:avLst>
              <a:gd name="adj" fmla="val 3076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0972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 i="0">
                <a:solidFill>
                  <a:srgbClr val="C9A227"/>
                </a:solidFill>
                <a:latin typeface="Cambria"/>
              </a:rPr>
              <a:t>≈ 70 %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80360"/>
            <a:ext cx="3017520" cy="10058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de los envíos se concentra en Siria y Líbano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600200"/>
            <a:ext cx="3474720" cy="2377440"/>
          </a:xfrm>
          <a:prstGeom prst="roundRect">
            <a:avLst>
              <a:gd name="adj" fmla="val 3076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5319" y="1783080"/>
            <a:ext cx="3017520" cy="10972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 i="0">
                <a:solidFill>
                  <a:srgbClr val="C9A227"/>
                </a:solidFill>
                <a:latin typeface="Cambria"/>
              </a:rPr>
              <a:t>≈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880360"/>
            <a:ext cx="3017520" cy="10058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países de destino de la yerba mate argentina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881360" cy="1371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1B2A22"/>
                </a:solidFill>
                <a:latin typeface="Calibri"/>
              </a:rPr>
              <a:t>En Siria y Líbano el mate es una costumbre familiar de décadas, heredada de la inmigración y mantenida por el comercio con Argentina.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1B2A22"/>
                </a:solidFill>
                <a:latin typeface="Calibri"/>
              </a:rPr>
              <a:t>ASHAB entra con marca propia, packaging en árabe y un precio pensado para el distribuidor mayorista.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66259"/>
                </a:solidFill>
                <a:latin typeface="Calibri"/>
              </a:rPr>
              <a:t>Fuentes: INYM y Bolsa de Comercio de Rosario (2024–2025).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El mercado en cifras y su riesgo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475488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852160" y="1600200"/>
            <a:ext cx="5669280" cy="1965960"/>
          </a:xfrm>
          <a:prstGeom prst="roundRect">
            <a:avLst>
              <a:gd name="adj" fmla="val 3720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80760" y="1691640"/>
            <a:ext cx="5212080" cy="1783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F4D3A"/>
                </a:solidFill>
                <a:latin typeface="Cambria"/>
              </a:rPr>
              <a:t>Primer semestre de 2026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B2A22"/>
                </a:solidFill>
                <a:latin typeface="Calibri"/>
              </a:rPr>
              <a:t>26.045 toneladas exportadas por USD 48,3 millones: unos USD 1,85 por kg FOB en promedio.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3794760"/>
            <a:ext cx="5669280" cy="2057400"/>
          </a:xfrm>
          <a:prstGeom prst="roundRect">
            <a:avLst>
              <a:gd name="adj" fmla="val 3555"/>
            </a:avLst>
          </a:prstGeom>
          <a:solidFill>
            <a:srgbClr val="FF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80760" y="3886200"/>
            <a:ext cx="5212080" cy="1874519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8A6A00"/>
                </a:solidFill>
                <a:latin typeface="Cambria"/>
              </a:rPr>
              <a:t>Riesgo a gestionar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B2A22"/>
                </a:solidFill>
                <a:latin typeface="Calibri"/>
              </a:rPr>
              <a:t>En marzo de 2026 la guerra en la región llevó a algunas navieras a cancelar reservas hacia Siria. Por eso ASHAB diversifica: Líbano, Jordania y Emiratos, con seguro y carta de crédito.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66259"/>
                </a:solidFill>
                <a:latin typeface="Calibri"/>
              </a:rPr>
              <a:t>Fuentes: INYM, BCR, Infocampo e iProfesional. El promedio por kg es un cálculo propio a partir de datos aduaneros.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Países elegidos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1F4D3A"/>
                </a:solidFill>
                <a:latin typeface="Cambria"/>
              </a:rPr>
              <a:t>Siria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17520"/>
            <a:ext cx="2286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8A6A00"/>
                </a:solidFill>
                <a:latin typeface="Calibri"/>
              </a:rPr>
              <a:t>Mercado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520440"/>
            <a:ext cx="2286000" cy="21945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Mayor consumo de yerba mate de Medio Oriente. Ingreso por Latakia y Tartus o por tierra desde Líbano.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57600" y="178308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1460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1F4D3A"/>
                </a:solidFill>
                <a:latin typeface="Cambria"/>
              </a:rPr>
              <a:t>Líbano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286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8A6A00"/>
                </a:solidFill>
                <a:latin typeface="Calibri"/>
              </a:rPr>
              <a:t>Puerta logística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520440"/>
            <a:ext cx="2286000" cy="21945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Puerto de Beirut. Consumo fuerte en la montaña y las ciudades; sirve de base para llegar a Siria.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2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1F4D3A"/>
                </a:solidFill>
                <a:latin typeface="Cambria"/>
              </a:rPr>
              <a:t>Jordania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286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8A6A00"/>
                </a:solidFill>
                <a:latin typeface="Calibri"/>
              </a:rPr>
              <a:t>Acceso terrestre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2286000" cy="21945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Puerto de Áqaba. Comunidades sirias y libanesas que ya toman mate.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235439" y="178308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51460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1F4D3A"/>
                </a:solidFill>
                <a:latin typeface="Cambria"/>
              </a:rPr>
              <a:t>Emiratos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017520"/>
            <a:ext cx="2286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8A6A00"/>
                </a:solidFill>
                <a:latin typeface="Calibri"/>
              </a:rPr>
              <a:t>Centro de reexportación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520440"/>
            <a:ext cx="2286000" cy="21945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Emiratos Árabes Unidos. Puerto de Jebel Ali y feria Gulfood en Dubái para conocer distribuidores de toda la región.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66259"/>
                </a:solidFill>
                <a:latin typeface="Calibri"/>
              </a:rPr>
              <a:t>La entrada a cada país depende de las condiciones sanitarias, aduaneras y de seguridad vigentes al momento del embarque.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La propuesta: ASHAB, hierbas del oasis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566259"/>
                </a:solidFill>
                <a:latin typeface="Calibri"/>
              </a:rPr>
              <a:t>ASHAB (أعشاب) significa «hierbas» en árabe. Al-Wahat (الواحة) significa «el oasis»: hierbas del oasis, un nombre que se entiende en toda la región.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3520440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ASHAB Tradicional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206240"/>
            <a:ext cx="228600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CE9E1"/>
                </a:solidFill>
                <a:latin typeface="Calibri"/>
              </a:rPr>
              <a:t>Con palo, sabor intenso y clásico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029200"/>
            <a:ext cx="22860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Bolsa 1 kg · caja 10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468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657600" y="269748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11880" y="3520440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ASHAB Suave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06240"/>
            <a:ext cx="228600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CE9E1"/>
                </a:solidFill>
                <a:latin typeface="Calibri"/>
              </a:rPr>
              <a:t>Poco palo, molienda fina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029200"/>
            <a:ext cx="22860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Bolsa 500 g · caja 10 kg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46520" y="269748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ASHAB con Menta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228600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CE9E1"/>
                </a:solidFill>
                <a:latin typeface="Calibri"/>
              </a:rPr>
              <a:t>Con menta natural, fresca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22860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Bolsa 500 g · caja 10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2468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35439" y="269748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3520440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ASHAB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4206240"/>
            <a:ext cx="228600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DCE9E1"/>
                </a:solidFill>
                <a:latin typeface="Calibri"/>
              </a:rPr>
              <a:t>Hoja seleccionada y más estacionada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5029200"/>
            <a:ext cx="22860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Bolsa 1 kg · caja 12 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Etiquetas en árabe, español e inglés. Certificación halal prevista en el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Cómo funciona, explicado simple</a:t>
            </a:r>
          </a:p>
        </p:txBody>
      </p:sp>
      <p:pic>
        <p:nvPicPr>
          <p:cNvPr id="3" name="Picture 2" descr="Seis pasos: elabora, papeles, camión, barco, distribuidor, famili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10515600" cy="4540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Rumbo Global se ocupa de los pasos 2 a 5 junto con la yerbatera.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Cómo se usa la página web</a:t>
            </a:r>
          </a:p>
        </p:txBody>
      </p:sp>
      <p:pic>
        <p:nvPicPr>
          <p:cNvPr id="3" name="Picture 2" descr="Seis pasos para usar el sitio we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10515600" cy="4540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El botón verde de WhatsApp está en todas las páginas: 11 3348-6017.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Sitio web pensado para empresas árabes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3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Español, inglés y árabe. El árabe se lee de derecha a izquierda.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Ingreso con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Sin contraseñas nuevas ni documentos personales: el email lo verifica Google.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275319" y="182880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46888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Empresas aprobadas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880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Se revisa el registro comercial antes de mostrar precios y aceptar pedidos.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Seña del 50 %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79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Proforma online; sin la seña acreditada no se produce ni se reserva flete.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72000" y="416052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WhatsApp flotante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79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Un toque para escribir al 11 3348-6017 con mensaje listo.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931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275319" y="416052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8006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Control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5212079"/>
            <a:ext cx="30175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El administrador ve usuarios, ingresos y pedidos, y exporta todo a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Plan de los primeros 12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6616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2910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22910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9204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5498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5498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8086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8086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4380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674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0674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262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3262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19556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8500" y="1554480"/>
            <a:ext cx="626364" cy="457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858500" y="1554480"/>
            <a:ext cx="6263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554480"/>
            <a:ext cx="292608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19" y="2194560"/>
            <a:ext cx="283464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B2A22"/>
                </a:solidFill>
                <a:latin typeface="Calibri"/>
              </a:rPr>
              <a:t>1. Preparación y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2304288"/>
            <a:ext cx="1952243" cy="420624"/>
          </a:xfrm>
          <a:prstGeom prst="roundRect">
            <a:avLst>
              <a:gd name="adj" fmla="val 17391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40080" y="2971800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19" y="2971800"/>
            <a:ext cx="283464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B2A22"/>
                </a:solidFill>
                <a:latin typeface="Calibri"/>
              </a:rPr>
              <a:t>2. Marca y habilitaciones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9100" y="3081528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3749039"/>
            <a:ext cx="10881360" cy="6400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1519" y="3749039"/>
            <a:ext cx="283464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B2A22"/>
                </a:solidFill>
                <a:latin typeface="Calibri"/>
              </a:rPr>
              <a:t>3. Prospección y Gulfood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54980" y="3858768"/>
            <a:ext cx="3278124" cy="420624"/>
          </a:xfrm>
          <a:prstGeom prst="roundRect">
            <a:avLst>
              <a:gd name="adj" fmla="val 17391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40080" y="452627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19" y="4526279"/>
            <a:ext cx="283464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B2A22"/>
                </a:solidFill>
                <a:latin typeface="Calibri"/>
              </a:rPr>
              <a:t>4. Primer embarque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80860" y="4636007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1519" y="5303520"/>
            <a:ext cx="283464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B2A22"/>
                </a:solidFill>
                <a:latin typeface="Calibri"/>
              </a:rPr>
              <a:t>5. Escala y seguimiento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5413248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Hitos: marca registrada (mes 5), muestras en destino (mes 6), primer contenedor embarcado (mes 7), primer cobro (mes 10).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Inversión inicial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7665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554480"/>
            <a:ext cx="3749039" cy="1325880"/>
          </a:xfrm>
          <a:prstGeom prst="roundRect">
            <a:avLst>
              <a:gd name="adj" fmla="val 5517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09560" y="1645920"/>
            <a:ext cx="34747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USD 75.810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286000"/>
            <a:ext cx="34747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DCE9E1"/>
                </a:solidFill>
                <a:latin typeface="Calibri"/>
              </a:rPr>
              <a:t>inversión inicial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063239"/>
            <a:ext cx="3749039" cy="1325880"/>
          </a:xfrm>
          <a:prstGeom prst="roundRect">
            <a:avLst>
              <a:gd name="adj" fmla="val 5517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09560" y="3154679"/>
            <a:ext cx="34747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USD 40.282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794759"/>
            <a:ext cx="34747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DCE9E1"/>
                </a:solidFill>
                <a:latin typeface="Calibri"/>
              </a:rPr>
              <a:t>capital de trabajo con seña del 50 % (2 contenedores)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572000"/>
            <a:ext cx="3749039" cy="1325880"/>
          </a:xfrm>
          <a:prstGeom prst="roundRect">
            <a:avLst>
              <a:gd name="adj" fmla="val 5517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4663440"/>
            <a:ext cx="34747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B2A22"/>
                </a:solidFill>
                <a:latin typeface="Cambria"/>
              </a:rPr>
              <a:t>USD 116.092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303520"/>
            <a:ext cx="34747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1B2A22"/>
                </a:solidFill>
                <a:latin typeface="Calibri"/>
              </a:rPr>
              <a:t>necesidad máxima de financiamiento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66259"/>
                </a:solidFill>
                <a:latin typeface="Calibri"/>
              </a:rPr>
              <a:t>Valores estimados en USD; tipo de cambio de referencia ARS 1.450 por USD (supuesto). Detalle completo en el Excel de costos.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Rentabilidad: cuánto deja cada contenedor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40080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06640" y="155448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43800" y="164592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1F4D3A"/>
                </a:solidFill>
                <a:latin typeface="Cambria"/>
              </a:rPr>
              <a:t>USD 10.459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31720"/>
            <a:ext cx="38404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margen neto por contenedor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063239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43800" y="3154679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1F4D3A"/>
                </a:solidFill>
                <a:latin typeface="Cambria"/>
              </a:rPr>
              <a:t>17 %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840479"/>
            <a:ext cx="38404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margen sobre la venta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5720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43800" y="466344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1F4D3A"/>
                </a:solidFill>
                <a:latin typeface="Cambria"/>
              </a:rPr>
              <a:t>≈ 13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5349240"/>
            <a:ext cx="38404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para recuperar la inversión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66259"/>
                </a:solidFill>
                <a:latin typeface="Calibri"/>
              </a:rPr>
              <a:t>Base: 6, 14 y 24 contenedores de 40' en los años 1, 2 y 3. Sin impuesto a las ganancias ni costo financiero.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Un contenedor de 24 toneladas, paso a paso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6949440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37160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91440" marR="91440" marT="45720" marB="4572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 marL="91440" marR="91440" marT="45720" marB="4572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USD por kg</a:t>
                      </a:r>
                    </a:p>
                  </a:txBody>
                  <a:tcPr marL="91440" marR="91440" marT="45720" marB="45720" anchor="ctr">
                    <a:solidFill>
                      <a:srgbClr val="1F4D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Yerba y packaging de marca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39.600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1,65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Flete interno y gastos de exportación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4.000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0,17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Flete marítimo y seguro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4.515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0,19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Carta de crédito, bancos y honorario de éxito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2.626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0,11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Costo 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50.741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2,11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Venta CIF al importador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61.200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2,55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A22"/>
                          </a:solidFill>
                          <a:latin typeface="Calibri"/>
                        </a:rPr>
                        <a:t>Margen neto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10.459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22"/>
                          </a:solidFill>
                          <a:latin typeface="Calibri"/>
                        </a:rPr>
                        <a:t>0,44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83879" y="1645920"/>
            <a:ext cx="3108960" cy="3840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Cambria"/>
              </a:rPr>
              <a:t>Precio mínimo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 un precio CIF de USD 2,10 por kg el contenedor ya no deja margen: el precio de venta puede bajar cerca de 18 % antes de perder dinero.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Cambria"/>
              </a:rPr>
              <a:t>Ojo con el promedio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 promedio aduanero ronda USD 1,85 FOB. ASHAB apunta a USD 2,36: hay que justificarlo con marca, packaging y certificación.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694944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66259"/>
                </a:solidFill>
                <a:latin typeface="Calibri"/>
              </a:rPr>
              <a:t>Valores en USD por contenedor de 24.000 kg, bolsas de 1 kg.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Riesgos y cómo los cubrimos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10881359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749039"/>
                <a:gridCol w="47548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marL="91440" marR="91440" marT="45720" marB="4572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puede pasar</a:t>
                      </a:r>
                    </a:p>
                  </a:txBody>
                  <a:tcPr marL="91440" marR="91440" marT="45720" marB="4572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Cómo lo cubrimos</a:t>
                      </a:r>
                    </a:p>
                  </a:txBody>
                  <a:tcPr marL="91440" marR="91440" marT="45720" marB="45720" anchor="ctr">
                    <a:solidFill>
                      <a:srgbClr val="1F4D3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22"/>
                          </a:solidFill>
                          <a:latin typeface="Calibri"/>
                        </a:rPr>
                        <a:t>Conflicto en la región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Navieras cancelan reservas o suben recargos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Varios puertos y países, seguro y cláusulas de fuerza mayor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22"/>
                          </a:solidFill>
                          <a:latin typeface="Calibri"/>
                        </a:rPr>
                        <a:t>Cobro y pedidos falsos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El importador no paga o cancela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Seña del 50 % antes de producir, saldo antes de cargar y empresa aprobada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22"/>
                          </a:solidFill>
                          <a:latin typeface="Calibri"/>
                        </a:rPr>
                        <a:t>Sanciones y normas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Restricciones bancarias o aduaneras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Revisión legal previa y bancos con experiencia en la zona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22"/>
                          </a:solidFill>
                          <a:latin typeface="Calibri"/>
                        </a:rPr>
                        <a:t>Sanitario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Rechazo en la aduana de destino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Análisis de laboratorio, certificados y etiquetado correcto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22"/>
                          </a:solidFill>
                          <a:latin typeface="Calibri"/>
                        </a:rPr>
                        <a:t>Tipo de cambio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Cambian costos en pesos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Contratos en USD y costos principales dolarizados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22"/>
                          </a:solidFill>
                          <a:latin typeface="Calibri"/>
                        </a:rPr>
                        <a:t>Precio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La competencia baja precios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22"/>
                          </a:solidFill>
                          <a:latin typeface="Calibri"/>
                        </a:rPr>
                        <a:t>Marca, packaging y relación con el distribuidor</a:t>
                      </a:r>
                    </a:p>
                  </a:txBody>
                  <a:tcPr marL="91440" marR="91440" marT="45720" marB="45720" anchor="ctr"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Próximos pasos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B2A22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508760"/>
            <a:ext cx="658368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Aprobar el presupuesto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CFE0D6"/>
                </a:solidFill>
                <a:latin typeface="Calibri"/>
              </a:rPr>
              <a:t>e iniciar el diagnóstico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B2A2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514600"/>
            <a:ext cx="658368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Confirmar precios de planta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CFE0D6"/>
                </a:solidFill>
                <a:latin typeface="Calibri"/>
              </a:rPr>
              <a:t>y capacidad mensual de la yerbatera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B2A22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520440"/>
            <a:ext cx="658368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Registrar la marca ASHAB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CFE0D6"/>
                </a:solidFill>
                <a:latin typeface="Calibri"/>
              </a:rPr>
              <a:t>y encargar el packaging en tres idiomas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B2A22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526280"/>
            <a:ext cx="658368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Preparar muestras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CFE0D6"/>
                </a:solidFill>
                <a:latin typeface="Calibri"/>
              </a:rPr>
              <a:t>para el viaje a Beirut y Dubái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3108960" cy="3749039"/>
          </a:xfrm>
          <a:prstGeom prst="roundRect">
            <a:avLst>
              <a:gd name="adj" fmla="val 2352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0" y="1737360"/>
            <a:ext cx="2743200" cy="3383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C9A227"/>
                </a:solidFill>
                <a:latin typeface="Cambria"/>
              </a:rPr>
              <a:t>Hablemos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FE0D6"/>
                </a:solidFill>
                <a:latin typeface="Calibri"/>
              </a:rPr>
              <a:t>WhatsApp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11 3348-6017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CFE0D6"/>
                </a:solidFill>
                <a:latin typeface="Calibri"/>
              </a:rPr>
              <a:t>Rumbo Global Consultores S.A.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