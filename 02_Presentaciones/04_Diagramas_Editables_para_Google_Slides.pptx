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pedido con seña del 50 % hasta el mate en las casas de Medio Oriente, en seis pasos.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empresa nueva elige idioma, ingresa con Google, carga los datos de su empresa, espera la aprobación, pide cotización y paga la seña del 50 %.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Escuchar, analizar, planificar y ejecutar con control. El detalle de las 8 etapas está en el último diagrama.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decisión de exportar arranca el diagnóstico y la selección de países. Mientras el cliente adapta producto y marca, se tramitan registros y habilitaciones. Si el laboratorio o los certificados no aprueban, se corrige y se presenta de nuevo.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buscan importadores y se envían muestras. Si no les interesa, se ajusta la oferta. Si acepta las condiciones se firma el contrato y el banco abre la carta de crédito o recibe el pago anticipado: recién ahí se confirma la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cliente produce y la consultora arma los documentos. La aduana oficializa el permiso de embarque; si falta algo, se corrige. Tras el viaje, el importador aprueba o reclama (seguro). Con la aprobación se cobra el saldo y se cierra el embarque.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usuario toca «Continuar con Google». El servidor valida firma, emisor, vencimiento y email verificado; si algo falla, lo registra. Si todo está bien crea o actualiza el usuario y guarda el ingreso. Los precios y pedidos se habilitan cuando la empresa completa sus datos y el administrador la aprueba.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Después de la cotización se emite una proforma válida por 5 días. Sin la seña acreditada en el banco no se confirma el pedido, no se produce ni se reserva el contenedor. El saldo del 50 % se paga antes de cargar o contra la copia del B/L.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Ocho etapas con dos puntos de control: la aprobación del cliente antes de planificar y la verificación de objetivos antes de cerrar. Al final, la mejora continua abre un nuevo ciclo.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291840"/>
            <a:ext cx="16093440" cy="1645920"/>
          </a:xfrm>
        </p:spPr>
        <p:txBody>
          <a:bodyPr/>
          <a:lstStyle/>
          <a:p>
            <a:pPr algn="l"/>
            <a:r>
              <a:rPr sz="6000" b="1">
                <a:solidFill>
                  <a:srgbClr val="C9A227"/>
                </a:solidFill>
                <a:latin typeface="Cambria"/>
              </a:rPr>
              <a:t>Diagramas de flujo ASHAB y Rumbo Global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120640"/>
            <a:ext cx="1609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DCE9E1"/>
                </a:solidFill>
                <a:latin typeface="Calibri"/>
              </a:rPr>
              <a:t>Editables: cada caja, rombo y flecha es un objeto que podés mover, cambiar de color o borrar. Archivo &gt; Descargar para exportar a PowerPoint o PDF.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719072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1F4D3A"/>
                </a:solidFill>
                <a:latin typeface="Cambria"/>
              </a:rPr>
              <a:t>Cómo funciona ASHAB: simple</a:t>
            </a:r>
          </a:p>
        </p:txBody>
      </p:sp>
      <p:sp>
        <p:nvSpPr>
          <p:cNvPr id="3" name="Flecha 1"/>
          <p:cNvSpPr/>
          <p:nvPr/>
        </p:nvSpPr>
        <p:spPr>
          <a:xfrm>
            <a:off x="5985163" y="3306387"/>
            <a:ext cx="947651" cy="0"/>
          </a:xfrm>
          <a:custGeom>
            <a:avLst/>
            <a:gdLst/>
            <a:ahLst/>
            <a:cxnLst/>
            <a:rect l="l" t="t" r="r" b="b"/>
            <a:pathLst>
              <a:path w="947651" h="0">
                <a:moveTo>
                  <a:pt x="0" y="0"/>
                </a:moveTo>
                <a:lnTo>
                  <a:pt x="947651" y="0"/>
                </a:lnTo>
              </a:path>
            </a:pathLst>
          </a:custGeom>
          <a:noFill/>
          <a:ln w="23691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echa 2"/>
          <p:cNvSpPr/>
          <p:nvPr/>
        </p:nvSpPr>
        <p:spPr>
          <a:xfrm>
            <a:off x="11355185" y="3306387"/>
            <a:ext cx="947651" cy="0"/>
          </a:xfrm>
          <a:custGeom>
            <a:avLst/>
            <a:gdLst/>
            <a:ahLst/>
            <a:cxnLst/>
            <a:rect l="l" t="t" r="r" b="b"/>
            <a:pathLst>
              <a:path w="947651" h="0">
                <a:moveTo>
                  <a:pt x="0" y="0"/>
                </a:moveTo>
                <a:lnTo>
                  <a:pt x="947651" y="0"/>
                </a:lnTo>
              </a:path>
            </a:pathLst>
          </a:custGeom>
          <a:noFill/>
          <a:ln w="23691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lecha 3"/>
          <p:cNvSpPr/>
          <p:nvPr/>
        </p:nvSpPr>
        <p:spPr>
          <a:xfrm>
            <a:off x="14514021" y="4293523"/>
            <a:ext cx="0" cy="947651"/>
          </a:xfrm>
          <a:custGeom>
            <a:avLst/>
            <a:gdLst/>
            <a:ahLst/>
            <a:cxnLst/>
            <a:rect l="l" t="t" r="r" b="b"/>
            <a:pathLst>
              <a:path w="0" h="947651">
                <a:moveTo>
                  <a:pt x="0" y="0"/>
                </a:moveTo>
                <a:lnTo>
                  <a:pt x="0" y="947651"/>
                </a:lnTo>
              </a:path>
            </a:pathLst>
          </a:custGeom>
          <a:noFill/>
          <a:ln w="23691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echa 4"/>
          <p:cNvSpPr/>
          <p:nvPr/>
        </p:nvSpPr>
        <p:spPr>
          <a:xfrm>
            <a:off x="11355185" y="6228310"/>
            <a:ext cx="947651" cy="0"/>
          </a:xfrm>
          <a:custGeom>
            <a:avLst/>
            <a:gdLst/>
            <a:ahLst/>
            <a:cxnLst/>
            <a:rect l="l" t="t" r="r" b="b"/>
            <a:pathLst>
              <a:path w="947651" h="0">
                <a:moveTo>
                  <a:pt x="947651" y="0"/>
                </a:moveTo>
                <a:lnTo>
                  <a:pt x="0" y="0"/>
                </a:lnTo>
              </a:path>
            </a:pathLst>
          </a:custGeom>
          <a:noFill/>
          <a:ln w="23691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echa 5"/>
          <p:cNvSpPr/>
          <p:nvPr/>
        </p:nvSpPr>
        <p:spPr>
          <a:xfrm>
            <a:off x="5985163" y="6228310"/>
            <a:ext cx="947651" cy="0"/>
          </a:xfrm>
          <a:custGeom>
            <a:avLst/>
            <a:gdLst/>
            <a:ahLst/>
            <a:cxnLst/>
            <a:rect l="l" t="t" r="r" b="b"/>
            <a:pathLst>
              <a:path w="947651" h="0">
                <a:moveTo>
                  <a:pt x="947651" y="0"/>
                </a:moveTo>
                <a:lnTo>
                  <a:pt x="0" y="0"/>
                </a:lnTo>
              </a:path>
            </a:pathLst>
          </a:custGeom>
          <a:noFill/>
          <a:ln w="23691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so n0"/>
          <p:cNvSpPr/>
          <p:nvPr/>
        </p:nvSpPr>
        <p:spPr>
          <a:xfrm>
            <a:off x="1562792" y="2319250"/>
            <a:ext cx="4422370" cy="1974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65" b="0">
                <a:solidFill>
                  <a:srgbClr val="14281E"/>
                </a:solidFill>
                <a:latin typeface="Calibri"/>
              </a:rPr>
              <a:t>Un distribuidor árabe pide cotización y paga el 50 % de seña</a:t>
            </a:r>
          </a:p>
        </p:txBody>
      </p:sp>
      <p:sp>
        <p:nvSpPr>
          <p:cNvPr id="9" name="Número 1"/>
          <p:cNvSpPr/>
          <p:nvPr/>
        </p:nvSpPr>
        <p:spPr>
          <a:xfrm>
            <a:off x="1389056" y="2145514"/>
            <a:ext cx="410648" cy="41064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41" b="1">
                <a:solidFill>
                  <a:srgbClr val="14281E"/>
                </a:solidFill>
                <a:latin typeface="Calibri"/>
              </a:rPr>
              <a:t>1</a:t>
            </a:r>
          </a:p>
        </p:txBody>
      </p:sp>
      <p:sp>
        <p:nvSpPr>
          <p:cNvPr id="10" name="Paso n1"/>
          <p:cNvSpPr/>
          <p:nvPr/>
        </p:nvSpPr>
        <p:spPr>
          <a:xfrm>
            <a:off x="6932814" y="2319250"/>
            <a:ext cx="4422370" cy="1974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65" b="0">
                <a:solidFill>
                  <a:srgbClr val="14281E"/>
                </a:solidFill>
                <a:latin typeface="Calibri"/>
              </a:rPr>
              <a:t>La yerbatera de Misiones elabora y empaca la yerba ASHAB</a:t>
            </a:r>
          </a:p>
        </p:txBody>
      </p:sp>
      <p:sp>
        <p:nvSpPr>
          <p:cNvPr id="11" name="Número 2"/>
          <p:cNvSpPr/>
          <p:nvPr/>
        </p:nvSpPr>
        <p:spPr>
          <a:xfrm>
            <a:off x="6759078" y="2145514"/>
            <a:ext cx="410648" cy="41064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41" b="1">
                <a:solidFill>
                  <a:srgbClr val="14281E"/>
                </a:solidFill>
                <a:latin typeface="Calibri"/>
              </a:rPr>
              <a:t>2</a:t>
            </a:r>
          </a:p>
        </p:txBody>
      </p:sp>
      <p:sp>
        <p:nvSpPr>
          <p:cNvPr id="12" name="Paso n2"/>
          <p:cNvSpPr/>
          <p:nvPr/>
        </p:nvSpPr>
        <p:spPr>
          <a:xfrm>
            <a:off x="12302836" y="2319250"/>
            <a:ext cx="4422370" cy="1974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65" b="0">
                <a:solidFill>
                  <a:srgbClr val="14281E"/>
                </a:solidFill>
                <a:latin typeface="Calibri"/>
              </a:rPr>
              <a:t>Rumbo Global prepara los papeles y el permiso de exportación</a:t>
            </a:r>
          </a:p>
        </p:txBody>
      </p:sp>
      <p:sp>
        <p:nvSpPr>
          <p:cNvPr id="13" name="Número 3"/>
          <p:cNvSpPr/>
          <p:nvPr/>
        </p:nvSpPr>
        <p:spPr>
          <a:xfrm>
            <a:off x="12129100" y="2145514"/>
            <a:ext cx="410648" cy="41064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41" b="1">
                <a:solidFill>
                  <a:srgbClr val="14281E"/>
                </a:solidFill>
                <a:latin typeface="Calibri"/>
              </a:rPr>
              <a:t>3</a:t>
            </a:r>
          </a:p>
        </p:txBody>
      </p:sp>
      <p:sp>
        <p:nvSpPr>
          <p:cNvPr id="14" name="Paso n3"/>
          <p:cNvSpPr/>
          <p:nvPr/>
        </p:nvSpPr>
        <p:spPr>
          <a:xfrm>
            <a:off x="12302836" y="5241174"/>
            <a:ext cx="4422370" cy="1974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65" b="0">
                <a:solidFill>
                  <a:srgbClr val="14281E"/>
                </a:solidFill>
                <a:latin typeface="Calibri"/>
              </a:rPr>
              <a:t>Un camión lleva el contenedor al puerto de Buenos Aires</a:t>
            </a:r>
          </a:p>
        </p:txBody>
      </p:sp>
      <p:sp>
        <p:nvSpPr>
          <p:cNvPr id="15" name="Número 4"/>
          <p:cNvSpPr/>
          <p:nvPr/>
        </p:nvSpPr>
        <p:spPr>
          <a:xfrm>
            <a:off x="12129100" y="5067438"/>
            <a:ext cx="410648" cy="41064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41" b="1">
                <a:solidFill>
                  <a:srgbClr val="14281E"/>
                </a:solidFill>
                <a:latin typeface="Calibri"/>
              </a:rPr>
              <a:t>4</a:t>
            </a:r>
          </a:p>
        </p:txBody>
      </p:sp>
      <p:sp>
        <p:nvSpPr>
          <p:cNvPr id="16" name="Paso n4"/>
          <p:cNvSpPr/>
          <p:nvPr/>
        </p:nvSpPr>
        <p:spPr>
          <a:xfrm>
            <a:off x="6932814" y="5241174"/>
            <a:ext cx="4422370" cy="1974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65" b="0">
                <a:solidFill>
                  <a:srgbClr val="14281E"/>
                </a:solidFill>
                <a:latin typeface="Calibri"/>
              </a:rPr>
              <a:t>El barco cruza el océano hasta Beirut o Dubái (30 a 40 días)</a:t>
            </a:r>
          </a:p>
        </p:txBody>
      </p:sp>
      <p:sp>
        <p:nvSpPr>
          <p:cNvPr id="17" name="Número 5"/>
          <p:cNvSpPr/>
          <p:nvPr/>
        </p:nvSpPr>
        <p:spPr>
          <a:xfrm>
            <a:off x="6759078" y="5067438"/>
            <a:ext cx="410648" cy="41064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41" b="1">
                <a:solidFill>
                  <a:srgbClr val="14281E"/>
                </a:solidFill>
                <a:latin typeface="Calibri"/>
              </a:rPr>
              <a:t>5</a:t>
            </a:r>
          </a:p>
        </p:txBody>
      </p:sp>
      <p:sp>
        <p:nvSpPr>
          <p:cNvPr id="18" name="Paso n5"/>
          <p:cNvSpPr/>
          <p:nvPr/>
        </p:nvSpPr>
        <p:spPr>
          <a:xfrm>
            <a:off x="1562792" y="5241174"/>
            <a:ext cx="4422370" cy="1974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65" b="0">
                <a:solidFill>
                  <a:srgbClr val="14281E"/>
                </a:solidFill>
                <a:latin typeface="Calibri"/>
              </a:rPr>
              <a:t>El distribuidor paga el otro 50 %, recibe la yerba y la reparte</a:t>
            </a:r>
          </a:p>
        </p:txBody>
      </p:sp>
      <p:sp>
        <p:nvSpPr>
          <p:cNvPr id="19" name="Número 6"/>
          <p:cNvSpPr/>
          <p:nvPr/>
        </p:nvSpPr>
        <p:spPr>
          <a:xfrm>
            <a:off x="1389056" y="5067438"/>
            <a:ext cx="410648" cy="41064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41" b="1">
                <a:solidFill>
                  <a:srgbClr val="14281E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8778240"/>
            <a:ext cx="1719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66259"/>
                </a:solidFill>
                <a:latin typeface="Calibri"/>
              </a:rPr>
              <a:t>Del pedido con seña del 50 % hasta el mate en las casas de Medio Oriente, en seis pasos.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719072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1F4D3A"/>
                </a:solidFill>
                <a:latin typeface="Cambria"/>
              </a:rPr>
              <a:t>Cómo se usa la página web: simple</a:t>
            </a:r>
          </a:p>
        </p:txBody>
      </p:sp>
      <p:sp>
        <p:nvSpPr>
          <p:cNvPr id="3" name="Flecha 1"/>
          <p:cNvSpPr/>
          <p:nvPr/>
        </p:nvSpPr>
        <p:spPr>
          <a:xfrm>
            <a:off x="5985163" y="3306387"/>
            <a:ext cx="947651" cy="0"/>
          </a:xfrm>
          <a:custGeom>
            <a:avLst/>
            <a:gdLst/>
            <a:ahLst/>
            <a:cxnLst/>
            <a:rect l="l" t="t" r="r" b="b"/>
            <a:pathLst>
              <a:path w="947651" h="0">
                <a:moveTo>
                  <a:pt x="0" y="0"/>
                </a:moveTo>
                <a:lnTo>
                  <a:pt x="947651" y="0"/>
                </a:lnTo>
              </a:path>
            </a:pathLst>
          </a:custGeom>
          <a:noFill/>
          <a:ln w="23691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echa 2"/>
          <p:cNvSpPr/>
          <p:nvPr/>
        </p:nvSpPr>
        <p:spPr>
          <a:xfrm>
            <a:off x="11355185" y="3306387"/>
            <a:ext cx="947651" cy="0"/>
          </a:xfrm>
          <a:custGeom>
            <a:avLst/>
            <a:gdLst/>
            <a:ahLst/>
            <a:cxnLst/>
            <a:rect l="l" t="t" r="r" b="b"/>
            <a:pathLst>
              <a:path w="947651" h="0">
                <a:moveTo>
                  <a:pt x="0" y="0"/>
                </a:moveTo>
                <a:lnTo>
                  <a:pt x="947651" y="0"/>
                </a:lnTo>
              </a:path>
            </a:pathLst>
          </a:custGeom>
          <a:noFill/>
          <a:ln w="23691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lecha 3"/>
          <p:cNvSpPr/>
          <p:nvPr/>
        </p:nvSpPr>
        <p:spPr>
          <a:xfrm>
            <a:off x="14514021" y="4293523"/>
            <a:ext cx="0" cy="947651"/>
          </a:xfrm>
          <a:custGeom>
            <a:avLst/>
            <a:gdLst/>
            <a:ahLst/>
            <a:cxnLst/>
            <a:rect l="l" t="t" r="r" b="b"/>
            <a:pathLst>
              <a:path w="0" h="947651">
                <a:moveTo>
                  <a:pt x="0" y="0"/>
                </a:moveTo>
                <a:lnTo>
                  <a:pt x="0" y="947651"/>
                </a:lnTo>
              </a:path>
            </a:pathLst>
          </a:custGeom>
          <a:noFill/>
          <a:ln w="23691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echa 4"/>
          <p:cNvSpPr/>
          <p:nvPr/>
        </p:nvSpPr>
        <p:spPr>
          <a:xfrm>
            <a:off x="11355185" y="6228310"/>
            <a:ext cx="947651" cy="0"/>
          </a:xfrm>
          <a:custGeom>
            <a:avLst/>
            <a:gdLst/>
            <a:ahLst/>
            <a:cxnLst/>
            <a:rect l="l" t="t" r="r" b="b"/>
            <a:pathLst>
              <a:path w="947651" h="0">
                <a:moveTo>
                  <a:pt x="947651" y="0"/>
                </a:moveTo>
                <a:lnTo>
                  <a:pt x="0" y="0"/>
                </a:lnTo>
              </a:path>
            </a:pathLst>
          </a:custGeom>
          <a:noFill/>
          <a:ln w="23691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echa 5"/>
          <p:cNvSpPr/>
          <p:nvPr/>
        </p:nvSpPr>
        <p:spPr>
          <a:xfrm>
            <a:off x="5985163" y="6228310"/>
            <a:ext cx="947651" cy="0"/>
          </a:xfrm>
          <a:custGeom>
            <a:avLst/>
            <a:gdLst/>
            <a:ahLst/>
            <a:cxnLst/>
            <a:rect l="l" t="t" r="r" b="b"/>
            <a:pathLst>
              <a:path w="947651" h="0">
                <a:moveTo>
                  <a:pt x="947651" y="0"/>
                </a:moveTo>
                <a:lnTo>
                  <a:pt x="0" y="0"/>
                </a:lnTo>
              </a:path>
            </a:pathLst>
          </a:custGeom>
          <a:noFill/>
          <a:ln w="23691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so n0"/>
          <p:cNvSpPr/>
          <p:nvPr/>
        </p:nvSpPr>
        <p:spPr>
          <a:xfrm>
            <a:off x="1562792" y="2319250"/>
            <a:ext cx="4422370" cy="1974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65" b="0">
                <a:solidFill>
                  <a:srgbClr val="14281E"/>
                </a:solidFill>
                <a:latin typeface="Calibri"/>
              </a:rPr>
              <a:t>Entrás a la web y elegís tu idioma: español, inglés o árabe</a:t>
            </a:r>
          </a:p>
        </p:txBody>
      </p:sp>
      <p:sp>
        <p:nvSpPr>
          <p:cNvPr id="9" name="Número 1"/>
          <p:cNvSpPr/>
          <p:nvPr/>
        </p:nvSpPr>
        <p:spPr>
          <a:xfrm>
            <a:off x="1389056" y="2145514"/>
            <a:ext cx="410648" cy="41064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41" b="1">
                <a:solidFill>
                  <a:srgbClr val="14281E"/>
                </a:solidFill>
                <a:latin typeface="Calibri"/>
              </a:rPr>
              <a:t>1</a:t>
            </a:r>
          </a:p>
        </p:txBody>
      </p:sp>
      <p:sp>
        <p:nvSpPr>
          <p:cNvPr id="10" name="Paso n1"/>
          <p:cNvSpPr/>
          <p:nvPr/>
        </p:nvSpPr>
        <p:spPr>
          <a:xfrm>
            <a:off x="6932814" y="2319250"/>
            <a:ext cx="4422370" cy="1974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65" b="0">
                <a:solidFill>
                  <a:srgbClr val="14281E"/>
                </a:solidFill>
                <a:latin typeface="Calibri"/>
              </a:rPr>
              <a:t>Ingresás con tu cuenta de Google (sin contraseña nueva)</a:t>
            </a:r>
          </a:p>
        </p:txBody>
      </p:sp>
      <p:sp>
        <p:nvSpPr>
          <p:cNvPr id="11" name="Número 2"/>
          <p:cNvSpPr/>
          <p:nvPr/>
        </p:nvSpPr>
        <p:spPr>
          <a:xfrm>
            <a:off x="6759078" y="2145514"/>
            <a:ext cx="410648" cy="41064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41" b="1">
                <a:solidFill>
                  <a:srgbClr val="14281E"/>
                </a:solidFill>
                <a:latin typeface="Calibri"/>
              </a:rPr>
              <a:t>2</a:t>
            </a:r>
          </a:p>
        </p:txBody>
      </p:sp>
      <p:sp>
        <p:nvSpPr>
          <p:cNvPr id="12" name="Paso n2"/>
          <p:cNvSpPr/>
          <p:nvPr/>
        </p:nvSpPr>
        <p:spPr>
          <a:xfrm>
            <a:off x="12302836" y="2319250"/>
            <a:ext cx="4422370" cy="1974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65" b="0">
                <a:solidFill>
                  <a:srgbClr val="14281E"/>
                </a:solidFill>
                <a:latin typeface="Calibri"/>
              </a:rPr>
              <a:t>Cargás los datos de tu empresa y esperás la aprobación</a:t>
            </a:r>
          </a:p>
        </p:txBody>
      </p:sp>
      <p:sp>
        <p:nvSpPr>
          <p:cNvPr id="13" name="Número 3"/>
          <p:cNvSpPr/>
          <p:nvPr/>
        </p:nvSpPr>
        <p:spPr>
          <a:xfrm>
            <a:off x="12129100" y="2145514"/>
            <a:ext cx="410648" cy="41064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41" b="1">
                <a:solidFill>
                  <a:srgbClr val="14281E"/>
                </a:solidFill>
                <a:latin typeface="Calibri"/>
              </a:rPr>
              <a:t>3</a:t>
            </a:r>
          </a:p>
        </p:txBody>
      </p:sp>
      <p:sp>
        <p:nvSpPr>
          <p:cNvPr id="14" name="Paso n3"/>
          <p:cNvSpPr/>
          <p:nvPr/>
        </p:nvSpPr>
        <p:spPr>
          <a:xfrm>
            <a:off x="12302836" y="5241174"/>
            <a:ext cx="4422370" cy="1974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65" b="0">
                <a:solidFill>
                  <a:srgbClr val="14281E"/>
                </a:solidFill>
                <a:latin typeface="Calibri"/>
              </a:rPr>
              <a:t>Ves el catálogo y los precios de la yerba</a:t>
            </a:r>
          </a:p>
        </p:txBody>
      </p:sp>
      <p:sp>
        <p:nvSpPr>
          <p:cNvPr id="15" name="Número 4"/>
          <p:cNvSpPr/>
          <p:nvPr/>
        </p:nvSpPr>
        <p:spPr>
          <a:xfrm>
            <a:off x="12129100" y="5067438"/>
            <a:ext cx="410648" cy="41064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41" b="1">
                <a:solidFill>
                  <a:srgbClr val="14281E"/>
                </a:solidFill>
                <a:latin typeface="Calibri"/>
              </a:rPr>
              <a:t>4</a:t>
            </a:r>
          </a:p>
        </p:txBody>
      </p:sp>
      <p:sp>
        <p:nvSpPr>
          <p:cNvPr id="16" name="Paso n4"/>
          <p:cNvSpPr/>
          <p:nvPr/>
        </p:nvSpPr>
        <p:spPr>
          <a:xfrm>
            <a:off x="6932814" y="5241174"/>
            <a:ext cx="4422370" cy="1974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65" b="0">
                <a:solidFill>
                  <a:srgbClr val="14281E"/>
                </a:solidFill>
                <a:latin typeface="Calibri"/>
              </a:rPr>
              <a:t>Pedís cotización y recibís la proforma</a:t>
            </a:r>
          </a:p>
        </p:txBody>
      </p:sp>
      <p:sp>
        <p:nvSpPr>
          <p:cNvPr id="17" name="Número 5"/>
          <p:cNvSpPr/>
          <p:nvPr/>
        </p:nvSpPr>
        <p:spPr>
          <a:xfrm>
            <a:off x="6759078" y="5067438"/>
            <a:ext cx="410648" cy="41064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41" b="1">
                <a:solidFill>
                  <a:srgbClr val="14281E"/>
                </a:solidFill>
                <a:latin typeface="Calibri"/>
              </a:rPr>
              <a:t>5</a:t>
            </a:r>
          </a:p>
        </p:txBody>
      </p:sp>
      <p:sp>
        <p:nvSpPr>
          <p:cNvPr id="18" name="Paso n5"/>
          <p:cNvSpPr/>
          <p:nvPr/>
        </p:nvSpPr>
        <p:spPr>
          <a:xfrm>
            <a:off x="1562792" y="5241174"/>
            <a:ext cx="4422370" cy="1974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65" b="0">
                <a:solidFill>
                  <a:srgbClr val="14281E"/>
                </a:solidFill>
                <a:latin typeface="Calibri"/>
              </a:rPr>
              <a:t>Pagás la seña del 50 % y confirmamos tu pedido</a:t>
            </a:r>
          </a:p>
        </p:txBody>
      </p:sp>
      <p:sp>
        <p:nvSpPr>
          <p:cNvPr id="19" name="Número 6"/>
          <p:cNvSpPr/>
          <p:nvPr/>
        </p:nvSpPr>
        <p:spPr>
          <a:xfrm>
            <a:off x="1389056" y="5067438"/>
            <a:ext cx="410648" cy="41064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41" b="1">
                <a:solidFill>
                  <a:srgbClr val="14281E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8778240"/>
            <a:ext cx="1719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66259"/>
                </a:solidFill>
                <a:latin typeface="Calibri"/>
              </a:rPr>
              <a:t>Una empresa nueva elige idioma, ingresa con Google, carga los datos de su empresa, espera la aprobación, pide cotización y paga la seña del 50 %.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719072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111111"/>
                </a:solidFill>
                <a:latin typeface="Cambria"/>
              </a:rPr>
              <a:t>Cómo trabaja la consultora: simple</a:t>
            </a:r>
          </a:p>
        </p:txBody>
      </p:sp>
      <p:sp>
        <p:nvSpPr>
          <p:cNvPr id="3" name="Flecha 1"/>
          <p:cNvSpPr/>
          <p:nvPr/>
        </p:nvSpPr>
        <p:spPr>
          <a:xfrm>
            <a:off x="3859530" y="2891790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 h="0">
                <a:moveTo>
                  <a:pt x="0" y="0"/>
                </a:moveTo>
                <a:lnTo>
                  <a:pt x="1447800" y="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echa 2"/>
          <p:cNvSpPr/>
          <p:nvPr/>
        </p:nvSpPr>
        <p:spPr>
          <a:xfrm>
            <a:off x="8420100" y="2891790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 h="0">
                <a:moveTo>
                  <a:pt x="0" y="0"/>
                </a:moveTo>
                <a:lnTo>
                  <a:pt x="1447800" y="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lecha 3"/>
          <p:cNvSpPr/>
          <p:nvPr/>
        </p:nvSpPr>
        <p:spPr>
          <a:xfrm>
            <a:off x="12980670" y="2891790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 h="0">
                <a:moveTo>
                  <a:pt x="0" y="0"/>
                </a:moveTo>
                <a:lnTo>
                  <a:pt x="1447800" y="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so n0"/>
          <p:cNvSpPr/>
          <p:nvPr/>
        </p:nvSpPr>
        <p:spPr>
          <a:xfrm>
            <a:off x="746760" y="1805940"/>
            <a:ext cx="3112770" cy="2171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10" b="0">
                <a:solidFill>
                  <a:srgbClr val="111111"/>
                </a:solidFill>
                <a:latin typeface="Calibri"/>
              </a:rPr>
              <a:t>Escuchamos qué necesita el cliente</a:t>
            </a:r>
          </a:p>
        </p:txBody>
      </p:sp>
      <p:sp>
        <p:nvSpPr>
          <p:cNvPr id="7" name="Número 1"/>
          <p:cNvSpPr/>
          <p:nvPr/>
        </p:nvSpPr>
        <p:spPr>
          <a:xfrm>
            <a:off x="587502" y="1646682"/>
            <a:ext cx="376428" cy="37642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Paso n1"/>
          <p:cNvSpPr/>
          <p:nvPr/>
        </p:nvSpPr>
        <p:spPr>
          <a:xfrm>
            <a:off x="5307330" y="1805940"/>
            <a:ext cx="3112770" cy="2171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10" b="0">
                <a:solidFill>
                  <a:srgbClr val="111111"/>
                </a:solidFill>
                <a:latin typeface="Calibri"/>
              </a:rPr>
              <a:t>Analizamos el mercado y los riesgos</a:t>
            </a:r>
          </a:p>
        </p:txBody>
      </p:sp>
      <p:sp>
        <p:nvSpPr>
          <p:cNvPr id="9" name="Número 2"/>
          <p:cNvSpPr/>
          <p:nvPr/>
        </p:nvSpPr>
        <p:spPr>
          <a:xfrm>
            <a:off x="5148072" y="1646682"/>
            <a:ext cx="376428" cy="37642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Paso n2"/>
          <p:cNvSpPr/>
          <p:nvPr/>
        </p:nvSpPr>
        <p:spPr>
          <a:xfrm>
            <a:off x="9867900" y="1805940"/>
            <a:ext cx="3112770" cy="2171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10" b="0">
                <a:solidFill>
                  <a:srgbClr val="111111"/>
                </a:solidFill>
                <a:latin typeface="Calibri"/>
              </a:rPr>
              <a:t>Armamos un plan con fechas y costos</a:t>
            </a:r>
          </a:p>
        </p:txBody>
      </p:sp>
      <p:sp>
        <p:nvSpPr>
          <p:cNvPr id="11" name="Número 3"/>
          <p:cNvSpPr/>
          <p:nvPr/>
        </p:nvSpPr>
        <p:spPr>
          <a:xfrm>
            <a:off x="9708642" y="1646682"/>
            <a:ext cx="376428" cy="37642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Paso n3"/>
          <p:cNvSpPr/>
          <p:nvPr/>
        </p:nvSpPr>
        <p:spPr>
          <a:xfrm>
            <a:off x="14428470" y="1805940"/>
            <a:ext cx="3112770" cy="2171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10" b="0">
                <a:solidFill>
                  <a:srgbClr val="111111"/>
                </a:solidFill>
                <a:latin typeface="Calibri"/>
              </a:rPr>
              <a:t>Ejecutamos, controlamos y avisamos</a:t>
            </a:r>
          </a:p>
        </p:txBody>
      </p:sp>
      <p:sp>
        <p:nvSpPr>
          <p:cNvPr id="13" name="Número 4"/>
          <p:cNvSpPr/>
          <p:nvPr/>
        </p:nvSpPr>
        <p:spPr>
          <a:xfrm>
            <a:off x="14269212" y="1646682"/>
            <a:ext cx="376428" cy="37642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8778240"/>
            <a:ext cx="1719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66259"/>
                </a:solidFill>
                <a:latin typeface="Calibri"/>
              </a:rPr>
              <a:t>Escuchar, analizar, planificar y ejecutar con control. El detalle de las 8 etapas está en el último diagrama.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719072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1F4D3A"/>
                </a:solidFill>
                <a:latin typeface="Cambria"/>
              </a:rPr>
              <a:t>Detalle 1: preparación y habilitaciones</a:t>
            </a:r>
          </a:p>
        </p:txBody>
      </p:sp>
      <p:sp>
        <p:nvSpPr>
          <p:cNvPr id="3" name="Carril 1"/>
          <p:cNvSpPr/>
          <p:nvPr/>
        </p:nvSpPr>
        <p:spPr>
          <a:xfrm>
            <a:off x="457200" y="1596258"/>
            <a:ext cx="17373600" cy="1872155"/>
          </a:xfrm>
          <a:prstGeom prst="rect">
            <a:avLst/>
          </a:prstGeom>
          <a:solidFill>
            <a:srgbClr val="F6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ítulo carril 1"/>
          <p:cNvSpPr/>
          <p:nvPr/>
        </p:nvSpPr>
        <p:spPr>
          <a:xfrm>
            <a:off x="457200" y="1596258"/>
            <a:ext cx="1347951" cy="1872155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33" b="1">
                <a:solidFill>
                  <a:srgbClr val="FFFFFF"/>
                </a:solidFill>
                <a:latin typeface="Calibri"/>
              </a:rPr>
              <a:t>Cliente (yerbatera)</a:t>
            </a:r>
          </a:p>
        </p:txBody>
      </p:sp>
      <p:sp>
        <p:nvSpPr>
          <p:cNvPr id="5" name="Carril 2"/>
          <p:cNvSpPr/>
          <p:nvPr/>
        </p:nvSpPr>
        <p:spPr>
          <a:xfrm>
            <a:off x="457200" y="3468413"/>
            <a:ext cx="17373600" cy="1872155"/>
          </a:xfrm>
          <a:prstGeom prst="rect">
            <a:avLst/>
          </a:prstGeom>
          <a:solidFill>
            <a:srgbClr val="E8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ítulo carril 2"/>
          <p:cNvSpPr/>
          <p:nvPr/>
        </p:nvSpPr>
        <p:spPr>
          <a:xfrm>
            <a:off x="457200" y="3468413"/>
            <a:ext cx="1347951" cy="1872155"/>
          </a:xfrm>
          <a:prstGeom prst="rect">
            <a:avLst/>
          </a:prstGeom>
          <a:solidFill>
            <a:srgbClr val="3A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33" b="1">
                <a:solidFill>
                  <a:srgbClr val="FFFFFF"/>
                </a:solidFill>
                <a:latin typeface="Calibri"/>
              </a:rPr>
              <a:t>Rumbo Global (consultora)</a:t>
            </a:r>
          </a:p>
        </p:txBody>
      </p:sp>
      <p:sp>
        <p:nvSpPr>
          <p:cNvPr id="7" name="Carril 3"/>
          <p:cNvSpPr/>
          <p:nvPr/>
        </p:nvSpPr>
        <p:spPr>
          <a:xfrm>
            <a:off x="457200" y="5340568"/>
            <a:ext cx="17373600" cy="1872155"/>
          </a:xfrm>
          <a:prstGeom prst="rect">
            <a:avLst/>
          </a:prstGeom>
          <a:solidFill>
            <a:srgbClr val="F6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ítulo carril 3"/>
          <p:cNvSpPr/>
          <p:nvPr/>
        </p:nvSpPr>
        <p:spPr>
          <a:xfrm>
            <a:off x="457200" y="5340568"/>
            <a:ext cx="1347951" cy="1872155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33" b="1">
                <a:solidFill>
                  <a:srgbClr val="FFFFFF"/>
                </a:solidFill>
                <a:latin typeface="Calibri"/>
              </a:rPr>
              <a:t>Organismos y registros (AR)</a:t>
            </a:r>
          </a:p>
        </p:txBody>
      </p:sp>
      <p:sp>
        <p:nvSpPr>
          <p:cNvPr id="9" name="Flecha 1"/>
          <p:cNvSpPr/>
          <p:nvPr/>
        </p:nvSpPr>
        <p:spPr>
          <a:xfrm>
            <a:off x="4014294" y="2532336"/>
            <a:ext cx="1310509" cy="1310508"/>
          </a:xfrm>
          <a:custGeom>
            <a:avLst/>
            <a:gdLst/>
            <a:ahLst/>
            <a:cxnLst/>
            <a:rect l="l" t="t" r="r" b="b"/>
            <a:pathLst>
              <a:path w="1310509" h="1310508">
                <a:moveTo>
                  <a:pt x="0" y="0"/>
                </a:moveTo>
                <a:lnTo>
                  <a:pt x="1310509" y="0"/>
                </a:lnTo>
                <a:lnTo>
                  <a:pt x="1310509" y="1310508"/>
                </a:lnTo>
              </a:path>
            </a:pathLst>
          </a:custGeom>
          <a:noFill/>
          <a:ln w="22465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echa 2"/>
          <p:cNvSpPr/>
          <p:nvPr/>
        </p:nvSpPr>
        <p:spPr>
          <a:xfrm>
            <a:off x="6260881" y="4404491"/>
            <a:ext cx="374431" cy="0"/>
          </a:xfrm>
          <a:custGeom>
            <a:avLst/>
            <a:gdLst/>
            <a:ahLst/>
            <a:cxnLst/>
            <a:rect l="l" t="t" r="r" b="b"/>
            <a:pathLst>
              <a:path w="374431" h="0">
                <a:moveTo>
                  <a:pt x="0" y="0"/>
                </a:moveTo>
                <a:lnTo>
                  <a:pt x="374431" y="0"/>
                </a:lnTo>
              </a:path>
            </a:pathLst>
          </a:custGeom>
          <a:noFill/>
          <a:ln w="22465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lecha 3"/>
          <p:cNvSpPr/>
          <p:nvPr/>
        </p:nvSpPr>
        <p:spPr>
          <a:xfrm>
            <a:off x="8507467" y="2532336"/>
            <a:ext cx="374431" cy="1872155"/>
          </a:xfrm>
          <a:custGeom>
            <a:avLst/>
            <a:gdLst/>
            <a:ahLst/>
            <a:cxnLst/>
            <a:rect l="l" t="t" r="r" b="b"/>
            <a:pathLst>
              <a:path w="374431" h="1872155">
                <a:moveTo>
                  <a:pt x="0" y="1872155"/>
                </a:moveTo>
                <a:lnTo>
                  <a:pt x="187215" y="1872155"/>
                </a:lnTo>
                <a:lnTo>
                  <a:pt x="187215" y="0"/>
                </a:lnTo>
                <a:lnTo>
                  <a:pt x="374431" y="0"/>
                </a:lnTo>
              </a:path>
            </a:pathLst>
          </a:custGeom>
          <a:noFill/>
          <a:ln w="22465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lecha 4"/>
          <p:cNvSpPr/>
          <p:nvPr/>
        </p:nvSpPr>
        <p:spPr>
          <a:xfrm>
            <a:off x="7571389" y="4966137"/>
            <a:ext cx="3557095" cy="1310509"/>
          </a:xfrm>
          <a:custGeom>
            <a:avLst/>
            <a:gdLst/>
            <a:ahLst/>
            <a:cxnLst/>
            <a:rect l="l" t="t" r="r" b="b"/>
            <a:pathLst>
              <a:path w="3557095" h="1310509">
                <a:moveTo>
                  <a:pt x="0" y="0"/>
                </a:moveTo>
                <a:lnTo>
                  <a:pt x="0" y="1310509"/>
                </a:lnTo>
                <a:lnTo>
                  <a:pt x="3557095" y="1310509"/>
                </a:lnTo>
              </a:path>
            </a:pathLst>
          </a:custGeom>
          <a:noFill/>
          <a:ln w="22465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echa 5"/>
          <p:cNvSpPr/>
          <p:nvPr/>
        </p:nvSpPr>
        <p:spPr>
          <a:xfrm>
            <a:off x="10754053" y="2532336"/>
            <a:ext cx="1310509" cy="3182664"/>
          </a:xfrm>
          <a:custGeom>
            <a:avLst/>
            <a:gdLst/>
            <a:ahLst/>
            <a:cxnLst/>
            <a:rect l="l" t="t" r="r" b="b"/>
            <a:pathLst>
              <a:path w="1310509" h="3182664">
                <a:moveTo>
                  <a:pt x="0" y="0"/>
                </a:moveTo>
                <a:lnTo>
                  <a:pt x="1310509" y="0"/>
                </a:lnTo>
                <a:lnTo>
                  <a:pt x="1310509" y="3182664"/>
                </a:lnTo>
              </a:path>
            </a:pathLst>
          </a:custGeom>
          <a:noFill/>
          <a:ln w="22465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echa 6"/>
          <p:cNvSpPr/>
          <p:nvPr/>
        </p:nvSpPr>
        <p:spPr>
          <a:xfrm>
            <a:off x="13000639" y="6276646"/>
            <a:ext cx="224659" cy="0"/>
          </a:xfrm>
          <a:custGeom>
            <a:avLst/>
            <a:gdLst/>
            <a:ahLst/>
            <a:cxnLst/>
            <a:rect l="l" t="t" r="r" b="b"/>
            <a:pathLst>
              <a:path w="224659" h="0">
                <a:moveTo>
                  <a:pt x="0" y="0"/>
                </a:moveTo>
                <a:lnTo>
                  <a:pt x="224659" y="0"/>
                </a:lnTo>
              </a:path>
            </a:pathLst>
          </a:custGeom>
          <a:noFill/>
          <a:ln w="22465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lecha 7"/>
          <p:cNvSpPr/>
          <p:nvPr/>
        </p:nvSpPr>
        <p:spPr>
          <a:xfrm>
            <a:off x="9817975" y="3093982"/>
            <a:ext cx="4493173" cy="2546131"/>
          </a:xfrm>
          <a:custGeom>
            <a:avLst/>
            <a:gdLst/>
            <a:ahLst/>
            <a:cxnLst/>
            <a:rect l="l" t="t" r="r" b="b"/>
            <a:pathLst>
              <a:path w="4493173" h="2546131">
                <a:moveTo>
                  <a:pt x="4493173" y="2546131"/>
                </a:moveTo>
                <a:lnTo>
                  <a:pt x="4493173" y="1759826"/>
                </a:lnTo>
                <a:lnTo>
                  <a:pt x="0" y="1759826"/>
                </a:lnTo>
                <a:lnTo>
                  <a:pt x="0" y="0"/>
                </a:lnTo>
              </a:path>
            </a:pathLst>
          </a:custGeom>
          <a:noFill/>
          <a:ln w="22465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echa 8"/>
          <p:cNvSpPr/>
          <p:nvPr/>
        </p:nvSpPr>
        <p:spPr>
          <a:xfrm>
            <a:off x="15396998" y="4966137"/>
            <a:ext cx="1160736" cy="1310509"/>
          </a:xfrm>
          <a:custGeom>
            <a:avLst/>
            <a:gdLst/>
            <a:ahLst/>
            <a:cxnLst/>
            <a:rect l="l" t="t" r="r" b="b"/>
            <a:pathLst>
              <a:path w="1160736" h="1310509">
                <a:moveTo>
                  <a:pt x="0" y="1310509"/>
                </a:moveTo>
                <a:lnTo>
                  <a:pt x="1160736" y="1310509"/>
                </a:lnTo>
                <a:lnTo>
                  <a:pt x="1160736" y="0"/>
                </a:lnTo>
              </a:path>
            </a:pathLst>
          </a:custGeom>
          <a:noFill/>
          <a:ln w="22465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nicio/fin n0"/>
          <p:cNvSpPr/>
          <p:nvPr/>
        </p:nvSpPr>
        <p:spPr>
          <a:xfrm>
            <a:off x="2142139" y="1970689"/>
            <a:ext cx="1872155" cy="1123293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15" b="1">
                <a:solidFill>
                  <a:srgbClr val="FFFFFF"/>
                </a:solidFill>
                <a:latin typeface="Calibri"/>
              </a:rPr>
              <a:t>Decisión de exportar yerba mate</a:t>
            </a:r>
          </a:p>
        </p:txBody>
      </p:sp>
      <p:sp>
        <p:nvSpPr>
          <p:cNvPr id="18" name="Paso n1"/>
          <p:cNvSpPr/>
          <p:nvPr/>
        </p:nvSpPr>
        <p:spPr>
          <a:xfrm>
            <a:off x="4388725" y="3842844"/>
            <a:ext cx="1872155" cy="112329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15" b="0">
                <a:solidFill>
                  <a:srgbClr val="14281E"/>
                </a:solidFill>
                <a:latin typeface="Calibri"/>
              </a:rPr>
              <a:t>Diagnóstico del cliente y estudio de mercado</a:t>
            </a:r>
          </a:p>
        </p:txBody>
      </p:sp>
      <p:sp>
        <p:nvSpPr>
          <p:cNvPr id="19" name="Paso n2"/>
          <p:cNvSpPr/>
          <p:nvPr/>
        </p:nvSpPr>
        <p:spPr>
          <a:xfrm>
            <a:off x="6635312" y="3842844"/>
            <a:ext cx="1872155" cy="112329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15" b="0">
                <a:solidFill>
                  <a:srgbClr val="14281E"/>
                </a:solidFill>
                <a:latin typeface="Calibri"/>
              </a:rPr>
              <a:t>Selección de países: Siria, Líbano, Jordania y EAU</a:t>
            </a:r>
          </a:p>
        </p:txBody>
      </p:sp>
      <p:sp>
        <p:nvSpPr>
          <p:cNvPr id="20" name="Paso n3"/>
          <p:cNvSpPr/>
          <p:nvPr/>
        </p:nvSpPr>
        <p:spPr>
          <a:xfrm>
            <a:off x="8881898" y="1970689"/>
            <a:ext cx="1872155" cy="112329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15" b="0">
                <a:solidFill>
                  <a:srgbClr val="14281E"/>
                </a:solidFill>
                <a:latin typeface="Calibri"/>
              </a:rPr>
              <a:t>Adapta producto: marca ASHAB, etiqueta ES/AR y packaging</a:t>
            </a:r>
          </a:p>
        </p:txBody>
      </p:sp>
      <p:sp>
        <p:nvSpPr>
          <p:cNvPr id="21" name="Paso n4"/>
          <p:cNvSpPr/>
          <p:nvPr/>
        </p:nvSpPr>
        <p:spPr>
          <a:xfrm>
            <a:off x="11128484" y="5715000"/>
            <a:ext cx="1872155" cy="112329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15" b="0">
                <a:solidFill>
                  <a:srgbClr val="14281E"/>
                </a:solidFill>
                <a:latin typeface="Calibri"/>
              </a:rPr>
              <a:t>Registro de marca y habilitaciones: ARCA, RNE, RNPA, INAL</a:t>
            </a:r>
          </a:p>
        </p:txBody>
      </p:sp>
      <p:sp>
        <p:nvSpPr>
          <p:cNvPr id="22" name="Decisión n5"/>
          <p:cNvSpPr/>
          <p:nvPr/>
        </p:nvSpPr>
        <p:spPr>
          <a:xfrm>
            <a:off x="13225298" y="5640113"/>
            <a:ext cx="2171700" cy="1273065"/>
          </a:xfrm>
          <a:prstGeom prst="diamond">
            <a:avLst/>
          </a:prstGeom>
          <a:solidFill>
            <a:srgbClr val="FCF4D6"/>
          </a:solidFill>
          <a:ln w="2246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0" rIns="434340" tIns="18288" bIns="18288"/>
          <a:lstStyle/>
          <a:p>
            <a:pPr algn="ctr"/>
            <a:r>
              <a:rPr sz="1344" b="1">
                <a:solidFill>
                  <a:srgbClr val="14281E"/>
                </a:solidFill>
                <a:latin typeface="Calibri"/>
              </a:rPr>
              <a:t>¿Laboratorio y certificados aprobados?</a:t>
            </a:r>
          </a:p>
        </p:txBody>
      </p:sp>
      <p:sp>
        <p:nvSpPr>
          <p:cNvPr id="23" name="Inicio/fin n6"/>
          <p:cNvSpPr/>
          <p:nvPr/>
        </p:nvSpPr>
        <p:spPr>
          <a:xfrm>
            <a:off x="15621656" y="3842844"/>
            <a:ext cx="1872155" cy="1123293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15" b="1">
                <a:solidFill>
                  <a:srgbClr val="FFFFFF"/>
                </a:solidFill>
                <a:latin typeface="Calibri"/>
              </a:rPr>
              <a:t>Producto listo: ficha técnica y muestras</a:t>
            </a:r>
          </a:p>
        </p:txBody>
      </p:sp>
      <p:sp>
        <p:nvSpPr>
          <p:cNvPr id="24" name="Etiqueta NO: corregir"/>
          <p:cNvSpPr/>
          <p:nvPr/>
        </p:nvSpPr>
        <p:spPr>
          <a:xfrm>
            <a:off x="13779456" y="4880018"/>
            <a:ext cx="1572610" cy="284567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15" b="1">
                <a:solidFill>
                  <a:srgbClr val="FFFFFF"/>
                </a:solidFill>
                <a:latin typeface="Calibri"/>
              </a:rPr>
              <a:t>NO: corregir</a:t>
            </a:r>
          </a:p>
        </p:txBody>
      </p:sp>
      <p:sp>
        <p:nvSpPr>
          <p:cNvPr id="25" name="Etiqueta SÍ"/>
          <p:cNvSpPr/>
          <p:nvPr/>
        </p:nvSpPr>
        <p:spPr>
          <a:xfrm>
            <a:off x="15752707" y="5939658"/>
            <a:ext cx="449317" cy="284567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15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8778240"/>
            <a:ext cx="1719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66259"/>
                </a:solidFill>
                <a:latin typeface="Calibri"/>
              </a:rPr>
              <a:t>La decisión de exportar arranca el diagnóstico y la selección de países. Mientras el cliente adapta producto y marca, se tramitan registros y habilitaciones. Si el laboratorio o los certificados no aprueban, se corrige y se presenta de nuevo.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719072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1F4D3A"/>
                </a:solidFill>
                <a:latin typeface="Cambria"/>
              </a:rPr>
              <a:t>Detalle 2: negociación y cierre comercial</a:t>
            </a:r>
          </a:p>
        </p:txBody>
      </p:sp>
      <p:sp>
        <p:nvSpPr>
          <p:cNvPr id="3" name="Carril 1"/>
          <p:cNvSpPr/>
          <p:nvPr/>
        </p:nvSpPr>
        <p:spPr>
          <a:xfrm>
            <a:off x="457200" y="1553840"/>
            <a:ext cx="17373600" cy="1518671"/>
          </a:xfrm>
          <a:prstGeom prst="rect">
            <a:avLst/>
          </a:prstGeom>
          <a:solidFill>
            <a:srgbClr val="F6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ítulo carril 1"/>
          <p:cNvSpPr/>
          <p:nvPr/>
        </p:nvSpPr>
        <p:spPr>
          <a:xfrm>
            <a:off x="457200" y="1553840"/>
            <a:ext cx="1093443" cy="1518671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43" b="1">
                <a:solidFill>
                  <a:srgbClr val="FFFFFF"/>
                </a:solidFill>
                <a:latin typeface="Calibri"/>
              </a:rPr>
              <a:t>Rumbo Global (consultora)</a:t>
            </a:r>
          </a:p>
        </p:txBody>
      </p:sp>
      <p:sp>
        <p:nvSpPr>
          <p:cNvPr id="5" name="Carril 2"/>
          <p:cNvSpPr/>
          <p:nvPr/>
        </p:nvSpPr>
        <p:spPr>
          <a:xfrm>
            <a:off x="457200" y="3072511"/>
            <a:ext cx="17373600" cy="1518671"/>
          </a:xfrm>
          <a:prstGeom prst="rect">
            <a:avLst/>
          </a:prstGeom>
          <a:solidFill>
            <a:srgbClr val="E8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ítulo carril 2"/>
          <p:cNvSpPr/>
          <p:nvPr/>
        </p:nvSpPr>
        <p:spPr>
          <a:xfrm>
            <a:off x="457200" y="3072511"/>
            <a:ext cx="1093443" cy="1518671"/>
          </a:xfrm>
          <a:prstGeom prst="rect">
            <a:avLst/>
          </a:prstGeom>
          <a:solidFill>
            <a:srgbClr val="3A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43" b="1">
                <a:solidFill>
                  <a:srgbClr val="FFFFFF"/>
                </a:solidFill>
                <a:latin typeface="Calibri"/>
              </a:rPr>
              <a:t>Importador en Medio Oriente</a:t>
            </a:r>
          </a:p>
        </p:txBody>
      </p:sp>
      <p:sp>
        <p:nvSpPr>
          <p:cNvPr id="7" name="Carril 3"/>
          <p:cNvSpPr/>
          <p:nvPr/>
        </p:nvSpPr>
        <p:spPr>
          <a:xfrm>
            <a:off x="457200" y="4591183"/>
            <a:ext cx="17373600" cy="1518671"/>
          </a:xfrm>
          <a:prstGeom prst="rect">
            <a:avLst/>
          </a:prstGeom>
          <a:solidFill>
            <a:srgbClr val="F6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ítulo carril 3"/>
          <p:cNvSpPr/>
          <p:nvPr/>
        </p:nvSpPr>
        <p:spPr>
          <a:xfrm>
            <a:off x="457200" y="4591183"/>
            <a:ext cx="1093443" cy="1518671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43" b="1">
                <a:solidFill>
                  <a:srgbClr val="FFFFFF"/>
                </a:solidFill>
                <a:latin typeface="Calibri"/>
              </a:rPr>
              <a:t>Banco</a:t>
            </a:r>
          </a:p>
        </p:txBody>
      </p:sp>
      <p:sp>
        <p:nvSpPr>
          <p:cNvPr id="9" name="Flecha 1"/>
          <p:cNvSpPr/>
          <p:nvPr/>
        </p:nvSpPr>
        <p:spPr>
          <a:xfrm>
            <a:off x="3433795" y="2313176"/>
            <a:ext cx="485975" cy="0"/>
          </a:xfrm>
          <a:custGeom>
            <a:avLst/>
            <a:gdLst/>
            <a:ahLst/>
            <a:cxnLst/>
            <a:rect l="l" t="t" r="r" b="b"/>
            <a:pathLst>
              <a:path w="485975" h="0">
                <a:moveTo>
                  <a:pt x="0" y="0"/>
                </a:moveTo>
                <a:lnTo>
                  <a:pt x="485975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echa 2"/>
          <p:cNvSpPr/>
          <p:nvPr/>
        </p:nvSpPr>
        <p:spPr>
          <a:xfrm>
            <a:off x="4679106" y="2768777"/>
            <a:ext cx="1245310" cy="1063070"/>
          </a:xfrm>
          <a:custGeom>
            <a:avLst/>
            <a:gdLst/>
            <a:ahLst/>
            <a:cxnLst/>
            <a:rect l="l" t="t" r="r" b="b"/>
            <a:pathLst>
              <a:path w="1245310" h="1063070">
                <a:moveTo>
                  <a:pt x="0" y="0"/>
                </a:moveTo>
                <a:lnTo>
                  <a:pt x="0" y="1063070"/>
                </a:lnTo>
                <a:lnTo>
                  <a:pt x="1245310" y="106307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lecha 3"/>
          <p:cNvSpPr/>
          <p:nvPr/>
        </p:nvSpPr>
        <p:spPr>
          <a:xfrm>
            <a:off x="7443088" y="3831847"/>
            <a:ext cx="364481" cy="0"/>
          </a:xfrm>
          <a:custGeom>
            <a:avLst/>
            <a:gdLst/>
            <a:ahLst/>
            <a:cxnLst/>
            <a:rect l="l" t="t" r="r" b="b"/>
            <a:pathLst>
              <a:path w="364481" h="0">
                <a:moveTo>
                  <a:pt x="0" y="0"/>
                </a:moveTo>
                <a:lnTo>
                  <a:pt x="364481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lecha 4"/>
          <p:cNvSpPr/>
          <p:nvPr/>
        </p:nvSpPr>
        <p:spPr>
          <a:xfrm>
            <a:off x="8688398" y="2768777"/>
            <a:ext cx="0" cy="546722"/>
          </a:xfrm>
          <a:custGeom>
            <a:avLst/>
            <a:gdLst/>
            <a:ahLst/>
            <a:cxnLst/>
            <a:rect l="l" t="t" r="r" b="b"/>
            <a:pathLst>
              <a:path w="0" h="546722">
                <a:moveTo>
                  <a:pt x="0" y="546722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echa 5"/>
          <p:cNvSpPr/>
          <p:nvPr/>
        </p:nvSpPr>
        <p:spPr>
          <a:xfrm>
            <a:off x="5438441" y="2313176"/>
            <a:ext cx="2490621" cy="0"/>
          </a:xfrm>
          <a:custGeom>
            <a:avLst/>
            <a:gdLst/>
            <a:ahLst/>
            <a:cxnLst/>
            <a:rect l="l" t="t" r="r" b="b"/>
            <a:pathLst>
              <a:path w="2490621" h="0">
                <a:moveTo>
                  <a:pt x="2490621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echa 6"/>
          <p:cNvSpPr/>
          <p:nvPr/>
        </p:nvSpPr>
        <p:spPr>
          <a:xfrm>
            <a:off x="9569227" y="3831847"/>
            <a:ext cx="364482" cy="0"/>
          </a:xfrm>
          <a:custGeom>
            <a:avLst/>
            <a:gdLst/>
            <a:ahLst/>
            <a:cxnLst/>
            <a:rect l="l" t="t" r="r" b="b"/>
            <a:pathLst>
              <a:path w="364482" h="0">
                <a:moveTo>
                  <a:pt x="0" y="0"/>
                </a:moveTo>
                <a:lnTo>
                  <a:pt x="364482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lecha 7"/>
          <p:cNvSpPr/>
          <p:nvPr/>
        </p:nvSpPr>
        <p:spPr>
          <a:xfrm>
            <a:off x="11452380" y="3831847"/>
            <a:ext cx="364481" cy="0"/>
          </a:xfrm>
          <a:custGeom>
            <a:avLst/>
            <a:gdLst/>
            <a:ahLst/>
            <a:cxnLst/>
            <a:rect l="l" t="t" r="r" b="b"/>
            <a:pathLst>
              <a:path w="364481" h="0">
                <a:moveTo>
                  <a:pt x="0" y="0"/>
                </a:moveTo>
                <a:lnTo>
                  <a:pt x="364481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echa 8"/>
          <p:cNvSpPr/>
          <p:nvPr/>
        </p:nvSpPr>
        <p:spPr>
          <a:xfrm>
            <a:off x="12697690" y="2768777"/>
            <a:ext cx="0" cy="546722"/>
          </a:xfrm>
          <a:custGeom>
            <a:avLst/>
            <a:gdLst/>
            <a:ahLst/>
            <a:cxnLst/>
            <a:rect l="l" t="t" r="r" b="b"/>
            <a:pathLst>
              <a:path w="0" h="546722">
                <a:moveTo>
                  <a:pt x="0" y="546722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lecha 9"/>
          <p:cNvSpPr/>
          <p:nvPr/>
        </p:nvSpPr>
        <p:spPr>
          <a:xfrm>
            <a:off x="10693044" y="2313176"/>
            <a:ext cx="1245311" cy="1063070"/>
          </a:xfrm>
          <a:custGeom>
            <a:avLst/>
            <a:gdLst/>
            <a:ahLst/>
            <a:cxnLst/>
            <a:rect l="l" t="t" r="r" b="b"/>
            <a:pathLst>
              <a:path w="1245311" h="1063070">
                <a:moveTo>
                  <a:pt x="1245311" y="0"/>
                </a:moveTo>
                <a:lnTo>
                  <a:pt x="0" y="0"/>
                </a:lnTo>
                <a:lnTo>
                  <a:pt x="0" y="106307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lecha 10"/>
          <p:cNvSpPr/>
          <p:nvPr/>
        </p:nvSpPr>
        <p:spPr>
          <a:xfrm>
            <a:off x="13578520" y="2768777"/>
            <a:ext cx="1123817" cy="1063070"/>
          </a:xfrm>
          <a:custGeom>
            <a:avLst/>
            <a:gdLst/>
            <a:ahLst/>
            <a:cxnLst/>
            <a:rect l="l" t="t" r="r" b="b"/>
            <a:pathLst>
              <a:path w="1123817" h="1063070">
                <a:moveTo>
                  <a:pt x="0" y="1063070"/>
                </a:moveTo>
                <a:lnTo>
                  <a:pt x="1123817" y="1063070"/>
                </a:lnTo>
                <a:lnTo>
                  <a:pt x="1123817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lecha 11"/>
          <p:cNvSpPr/>
          <p:nvPr/>
        </p:nvSpPr>
        <p:spPr>
          <a:xfrm>
            <a:off x="15461672" y="2313176"/>
            <a:ext cx="485975" cy="3037342"/>
          </a:xfrm>
          <a:custGeom>
            <a:avLst/>
            <a:gdLst/>
            <a:ahLst/>
            <a:cxnLst/>
            <a:rect l="l" t="t" r="r" b="b"/>
            <a:pathLst>
              <a:path w="485975" h="3037342">
                <a:moveTo>
                  <a:pt x="0" y="0"/>
                </a:moveTo>
                <a:lnTo>
                  <a:pt x="242988" y="0"/>
                </a:lnTo>
                <a:lnTo>
                  <a:pt x="242988" y="3037342"/>
                </a:lnTo>
                <a:lnTo>
                  <a:pt x="485975" y="3037342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lecha 12"/>
          <p:cNvSpPr/>
          <p:nvPr/>
        </p:nvSpPr>
        <p:spPr>
          <a:xfrm>
            <a:off x="16706983" y="2768777"/>
            <a:ext cx="0" cy="2126140"/>
          </a:xfrm>
          <a:custGeom>
            <a:avLst/>
            <a:gdLst/>
            <a:ahLst/>
            <a:cxnLst/>
            <a:rect l="l" t="t" r="r" b="b"/>
            <a:pathLst>
              <a:path w="0" h="2126140">
                <a:moveTo>
                  <a:pt x="0" y="212614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nicio/fin n0"/>
          <p:cNvSpPr/>
          <p:nvPr/>
        </p:nvSpPr>
        <p:spPr>
          <a:xfrm>
            <a:off x="1915124" y="1857574"/>
            <a:ext cx="1518671" cy="911202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1">
                <a:solidFill>
                  <a:srgbClr val="FFFFFF"/>
                </a:solidFill>
                <a:latin typeface="Calibri"/>
              </a:rPr>
              <a:t>Producto listo: ficha técnica y muestras</a:t>
            </a:r>
          </a:p>
        </p:txBody>
      </p:sp>
      <p:sp>
        <p:nvSpPr>
          <p:cNvPr id="22" name="Paso n1"/>
          <p:cNvSpPr/>
          <p:nvPr/>
        </p:nvSpPr>
        <p:spPr>
          <a:xfrm>
            <a:off x="3919770" y="1857574"/>
            <a:ext cx="1518671" cy="9112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0">
                <a:solidFill>
                  <a:srgbClr val="14281E"/>
                </a:solidFill>
                <a:latin typeface="Calibri"/>
              </a:rPr>
              <a:t>Búsqueda de importadores: ferias (Gulfood), cámaras árabes y contactos</a:t>
            </a:r>
          </a:p>
        </p:txBody>
      </p:sp>
      <p:sp>
        <p:nvSpPr>
          <p:cNvPr id="23" name="Paso n2"/>
          <p:cNvSpPr/>
          <p:nvPr/>
        </p:nvSpPr>
        <p:spPr>
          <a:xfrm>
            <a:off x="5924416" y="3376246"/>
            <a:ext cx="1518671" cy="9112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0">
                <a:solidFill>
                  <a:srgbClr val="14281E"/>
                </a:solidFill>
                <a:latin typeface="Calibri"/>
              </a:rPr>
              <a:t>Recibe muestras y prueba la yerba</a:t>
            </a:r>
          </a:p>
        </p:txBody>
      </p:sp>
      <p:sp>
        <p:nvSpPr>
          <p:cNvPr id="24" name="Decisión n3"/>
          <p:cNvSpPr/>
          <p:nvPr/>
        </p:nvSpPr>
        <p:spPr>
          <a:xfrm>
            <a:off x="7807569" y="3315499"/>
            <a:ext cx="1761658" cy="1032696"/>
          </a:xfrm>
          <a:prstGeom prst="diamond">
            <a:avLst/>
          </a:prstGeom>
          <a:solidFill>
            <a:srgbClr val="FCF4D6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2331" rIns="352331" tIns="18288" bIns="18288"/>
          <a:lstStyle/>
          <a:p>
            <a:pPr algn="ctr"/>
            <a:r>
              <a:rPr sz="1090" b="1">
                <a:solidFill>
                  <a:srgbClr val="14281E"/>
                </a:solidFill>
                <a:latin typeface="Calibri"/>
              </a:rPr>
              <a:t>¿Le interesa el producto?</a:t>
            </a:r>
          </a:p>
        </p:txBody>
      </p:sp>
      <p:sp>
        <p:nvSpPr>
          <p:cNvPr id="25" name="Paso n4"/>
          <p:cNvSpPr/>
          <p:nvPr/>
        </p:nvSpPr>
        <p:spPr>
          <a:xfrm>
            <a:off x="7929062" y="1857574"/>
            <a:ext cx="1518671" cy="9112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0">
                <a:solidFill>
                  <a:srgbClr val="14281E"/>
                </a:solidFill>
                <a:latin typeface="Calibri"/>
              </a:rPr>
              <a:t>Ajusta la oferta o busca otro importador</a:t>
            </a:r>
          </a:p>
        </p:txBody>
      </p:sp>
      <p:sp>
        <p:nvSpPr>
          <p:cNvPr id="26" name="Paso n5"/>
          <p:cNvSpPr/>
          <p:nvPr/>
        </p:nvSpPr>
        <p:spPr>
          <a:xfrm>
            <a:off x="9933709" y="3376246"/>
            <a:ext cx="1518671" cy="9112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0">
                <a:solidFill>
                  <a:srgbClr val="14281E"/>
                </a:solidFill>
                <a:latin typeface="Calibri"/>
              </a:rPr>
              <a:t>Cotización y negociación: precio, Incoterm y plazos</a:t>
            </a:r>
          </a:p>
        </p:txBody>
      </p:sp>
      <p:sp>
        <p:nvSpPr>
          <p:cNvPr id="27" name="Decisión n6"/>
          <p:cNvSpPr/>
          <p:nvPr/>
        </p:nvSpPr>
        <p:spPr>
          <a:xfrm>
            <a:off x="11816861" y="3315499"/>
            <a:ext cx="1761658" cy="1032696"/>
          </a:xfrm>
          <a:prstGeom prst="diamond">
            <a:avLst/>
          </a:prstGeom>
          <a:solidFill>
            <a:srgbClr val="FCF4D6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2331" rIns="352331" tIns="18288" bIns="18288"/>
          <a:lstStyle/>
          <a:p>
            <a:pPr algn="ctr"/>
            <a:r>
              <a:rPr sz="1090" b="1">
                <a:solidFill>
                  <a:srgbClr val="14281E"/>
                </a:solidFill>
                <a:latin typeface="Calibri"/>
              </a:rPr>
              <a:t>¿Acepta las condiciones?</a:t>
            </a:r>
          </a:p>
        </p:txBody>
      </p:sp>
      <p:sp>
        <p:nvSpPr>
          <p:cNvPr id="28" name="Paso n7"/>
          <p:cNvSpPr/>
          <p:nvPr/>
        </p:nvSpPr>
        <p:spPr>
          <a:xfrm>
            <a:off x="11938355" y="1857574"/>
            <a:ext cx="1518671" cy="9112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0">
                <a:solidFill>
                  <a:srgbClr val="14281E"/>
                </a:solidFill>
                <a:latin typeface="Calibri"/>
              </a:rPr>
              <a:t>Renegocia las condiciones</a:t>
            </a:r>
          </a:p>
        </p:txBody>
      </p:sp>
      <p:sp>
        <p:nvSpPr>
          <p:cNvPr id="29" name="Paso n8"/>
          <p:cNvSpPr/>
          <p:nvPr/>
        </p:nvSpPr>
        <p:spPr>
          <a:xfrm>
            <a:off x="13943001" y="1857574"/>
            <a:ext cx="1518671" cy="9112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0">
                <a:solidFill>
                  <a:srgbClr val="14281E"/>
                </a:solidFill>
                <a:latin typeface="Calibri"/>
              </a:rPr>
              <a:t>Contrato de compraventa firmado</a:t>
            </a:r>
          </a:p>
        </p:txBody>
      </p:sp>
      <p:sp>
        <p:nvSpPr>
          <p:cNvPr id="30" name="Paso n9"/>
          <p:cNvSpPr/>
          <p:nvPr/>
        </p:nvSpPr>
        <p:spPr>
          <a:xfrm>
            <a:off x="15947647" y="4894917"/>
            <a:ext cx="1518671" cy="9112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0">
                <a:solidFill>
                  <a:srgbClr val="14281E"/>
                </a:solidFill>
                <a:latin typeface="Calibri"/>
              </a:rPr>
              <a:t>Seña del 50 % acreditada o carta de crédito confirmada</a:t>
            </a:r>
          </a:p>
        </p:txBody>
      </p:sp>
      <p:sp>
        <p:nvSpPr>
          <p:cNvPr id="31" name="Inicio/fin n10"/>
          <p:cNvSpPr/>
          <p:nvPr/>
        </p:nvSpPr>
        <p:spPr>
          <a:xfrm>
            <a:off x="15947647" y="1857574"/>
            <a:ext cx="1518671" cy="911202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1">
                <a:solidFill>
                  <a:srgbClr val="FFFFFF"/>
                </a:solidFill>
                <a:latin typeface="Calibri"/>
              </a:rPr>
              <a:t>Orden de producción confirmada</a:t>
            </a:r>
          </a:p>
        </p:txBody>
      </p:sp>
      <p:sp>
        <p:nvSpPr>
          <p:cNvPr id="32" name="Etiqueta NO"/>
          <p:cNvSpPr/>
          <p:nvPr/>
        </p:nvSpPr>
        <p:spPr>
          <a:xfrm>
            <a:off x="8712697" y="2926719"/>
            <a:ext cx="364481" cy="230838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3" name="Etiqueta SÍ"/>
          <p:cNvSpPr/>
          <p:nvPr/>
        </p:nvSpPr>
        <p:spPr>
          <a:xfrm>
            <a:off x="9569227" y="3558486"/>
            <a:ext cx="364481" cy="230838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34" name="Etiqueta NO"/>
          <p:cNvSpPr/>
          <p:nvPr/>
        </p:nvSpPr>
        <p:spPr>
          <a:xfrm>
            <a:off x="12721989" y="2926719"/>
            <a:ext cx="364481" cy="230838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5" name="Etiqueta SÍ"/>
          <p:cNvSpPr/>
          <p:nvPr/>
        </p:nvSpPr>
        <p:spPr>
          <a:xfrm>
            <a:off x="13958188" y="3558486"/>
            <a:ext cx="364481" cy="230838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8778240"/>
            <a:ext cx="1719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66259"/>
                </a:solidFill>
                <a:latin typeface="Calibri"/>
              </a:rPr>
              <a:t>Se buscan importadores y se envían muestras. Si no les interesa, se ajusta la oferta. Si acepta las condiciones se firma el contrato y el banco abre la carta de crédito o recibe el pago anticipado: recién ahí se confirma la producción.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719072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1F4D3A"/>
                </a:solidFill>
                <a:latin typeface="Cambria"/>
              </a:rPr>
              <a:t>Detalle 3: logística, aduana y cobranza</a:t>
            </a:r>
          </a:p>
        </p:txBody>
      </p:sp>
      <p:sp>
        <p:nvSpPr>
          <p:cNvPr id="3" name="Carril 1"/>
          <p:cNvSpPr/>
          <p:nvPr/>
        </p:nvSpPr>
        <p:spPr>
          <a:xfrm>
            <a:off x="457200" y="1555772"/>
            <a:ext cx="17373600" cy="1350597"/>
          </a:xfrm>
          <a:prstGeom prst="rect">
            <a:avLst/>
          </a:prstGeom>
          <a:solidFill>
            <a:srgbClr val="F6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ítulo carril 1"/>
          <p:cNvSpPr/>
          <p:nvPr/>
        </p:nvSpPr>
        <p:spPr>
          <a:xfrm>
            <a:off x="457200" y="1555772"/>
            <a:ext cx="1105034" cy="1350597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6" b="1">
                <a:solidFill>
                  <a:srgbClr val="FFFFFF"/>
                </a:solidFill>
                <a:latin typeface="Calibri"/>
              </a:rPr>
              <a:t>Cliente (yerbatera)</a:t>
            </a:r>
          </a:p>
        </p:txBody>
      </p:sp>
      <p:sp>
        <p:nvSpPr>
          <p:cNvPr id="5" name="Carril 2"/>
          <p:cNvSpPr/>
          <p:nvPr/>
        </p:nvSpPr>
        <p:spPr>
          <a:xfrm>
            <a:off x="457200" y="2906370"/>
            <a:ext cx="17373600" cy="1350597"/>
          </a:xfrm>
          <a:prstGeom prst="rect">
            <a:avLst/>
          </a:prstGeom>
          <a:solidFill>
            <a:srgbClr val="E8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ítulo carril 2"/>
          <p:cNvSpPr/>
          <p:nvPr/>
        </p:nvSpPr>
        <p:spPr>
          <a:xfrm>
            <a:off x="457200" y="2906370"/>
            <a:ext cx="1105034" cy="1350597"/>
          </a:xfrm>
          <a:prstGeom prst="rect">
            <a:avLst/>
          </a:prstGeom>
          <a:solidFill>
            <a:srgbClr val="3A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6" b="1">
                <a:solidFill>
                  <a:srgbClr val="FFFFFF"/>
                </a:solidFill>
                <a:latin typeface="Calibri"/>
              </a:rPr>
              <a:t>Rumbo Global (consultora)</a:t>
            </a:r>
          </a:p>
        </p:txBody>
      </p:sp>
      <p:sp>
        <p:nvSpPr>
          <p:cNvPr id="7" name="Carril 3"/>
          <p:cNvSpPr/>
          <p:nvPr/>
        </p:nvSpPr>
        <p:spPr>
          <a:xfrm>
            <a:off x="457200" y="4256968"/>
            <a:ext cx="17373600" cy="1350597"/>
          </a:xfrm>
          <a:prstGeom prst="rect">
            <a:avLst/>
          </a:prstGeom>
          <a:solidFill>
            <a:srgbClr val="F6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ítulo carril 3"/>
          <p:cNvSpPr/>
          <p:nvPr/>
        </p:nvSpPr>
        <p:spPr>
          <a:xfrm>
            <a:off x="457200" y="4256968"/>
            <a:ext cx="1105034" cy="1350597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6" b="1">
                <a:solidFill>
                  <a:srgbClr val="FFFFFF"/>
                </a:solidFill>
                <a:latin typeface="Calibri"/>
              </a:rPr>
              <a:t>Aduana y organismos (AR)</a:t>
            </a:r>
          </a:p>
        </p:txBody>
      </p:sp>
      <p:sp>
        <p:nvSpPr>
          <p:cNvPr id="9" name="Carril 4"/>
          <p:cNvSpPr/>
          <p:nvPr/>
        </p:nvSpPr>
        <p:spPr>
          <a:xfrm>
            <a:off x="457200" y="5607566"/>
            <a:ext cx="17373600" cy="1350597"/>
          </a:xfrm>
          <a:prstGeom prst="rect">
            <a:avLst/>
          </a:prstGeom>
          <a:solidFill>
            <a:srgbClr val="E8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ítulo carril 4"/>
          <p:cNvSpPr/>
          <p:nvPr/>
        </p:nvSpPr>
        <p:spPr>
          <a:xfrm>
            <a:off x="457200" y="5607566"/>
            <a:ext cx="1105034" cy="1350597"/>
          </a:xfrm>
          <a:prstGeom prst="rect">
            <a:avLst/>
          </a:prstGeom>
          <a:solidFill>
            <a:srgbClr val="3A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6" b="1">
                <a:solidFill>
                  <a:srgbClr val="FFFFFF"/>
                </a:solidFill>
                <a:latin typeface="Calibri"/>
              </a:rPr>
              <a:t>Transporte y seguro</a:t>
            </a:r>
          </a:p>
        </p:txBody>
      </p:sp>
      <p:sp>
        <p:nvSpPr>
          <p:cNvPr id="11" name="Carril 5"/>
          <p:cNvSpPr/>
          <p:nvPr/>
        </p:nvSpPr>
        <p:spPr>
          <a:xfrm>
            <a:off x="457200" y="6958163"/>
            <a:ext cx="17373600" cy="1350597"/>
          </a:xfrm>
          <a:prstGeom prst="rect">
            <a:avLst/>
          </a:prstGeom>
          <a:solidFill>
            <a:srgbClr val="F6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ítulo carril 5"/>
          <p:cNvSpPr/>
          <p:nvPr/>
        </p:nvSpPr>
        <p:spPr>
          <a:xfrm>
            <a:off x="457200" y="6958163"/>
            <a:ext cx="1105034" cy="1350597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6" b="1">
                <a:solidFill>
                  <a:srgbClr val="FFFFFF"/>
                </a:solidFill>
                <a:latin typeface="Calibri"/>
              </a:rPr>
              <a:t>Importador en destino</a:t>
            </a:r>
          </a:p>
        </p:txBody>
      </p:sp>
      <p:sp>
        <p:nvSpPr>
          <p:cNvPr id="13" name="Flecha 1"/>
          <p:cNvSpPr/>
          <p:nvPr/>
        </p:nvSpPr>
        <p:spPr>
          <a:xfrm>
            <a:off x="3327220" y="2231071"/>
            <a:ext cx="1028296" cy="3622058"/>
          </a:xfrm>
          <a:custGeom>
            <a:avLst/>
            <a:gdLst/>
            <a:ahLst/>
            <a:cxnLst/>
            <a:rect l="l" t="t" r="r" b="b"/>
            <a:pathLst>
              <a:path w="1028296" h="3622058">
                <a:moveTo>
                  <a:pt x="0" y="0"/>
                </a:moveTo>
                <a:lnTo>
                  <a:pt x="1028296" y="0"/>
                </a:lnTo>
                <a:lnTo>
                  <a:pt x="1028296" y="3622058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echa 2"/>
          <p:cNvSpPr/>
          <p:nvPr/>
        </p:nvSpPr>
        <p:spPr>
          <a:xfrm>
            <a:off x="5107554" y="3581669"/>
            <a:ext cx="276258" cy="2701196"/>
          </a:xfrm>
          <a:custGeom>
            <a:avLst/>
            <a:gdLst/>
            <a:ahLst/>
            <a:cxnLst/>
            <a:rect l="l" t="t" r="r" b="b"/>
            <a:pathLst>
              <a:path w="276258" h="2701196">
                <a:moveTo>
                  <a:pt x="0" y="2701196"/>
                </a:moveTo>
                <a:lnTo>
                  <a:pt x="138129" y="2701196"/>
                </a:lnTo>
                <a:lnTo>
                  <a:pt x="138129" y="0"/>
                </a:lnTo>
                <a:lnTo>
                  <a:pt x="276258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lecha 3"/>
          <p:cNvSpPr/>
          <p:nvPr/>
        </p:nvSpPr>
        <p:spPr>
          <a:xfrm>
            <a:off x="6887887" y="3581669"/>
            <a:ext cx="1028296" cy="920862"/>
          </a:xfrm>
          <a:custGeom>
            <a:avLst/>
            <a:gdLst/>
            <a:ahLst/>
            <a:cxnLst/>
            <a:rect l="l" t="t" r="r" b="b"/>
            <a:pathLst>
              <a:path w="1028296" h="920862">
                <a:moveTo>
                  <a:pt x="0" y="0"/>
                </a:moveTo>
                <a:lnTo>
                  <a:pt x="1028296" y="0"/>
                </a:lnTo>
                <a:lnTo>
                  <a:pt x="1028296" y="920862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echa 4"/>
          <p:cNvSpPr/>
          <p:nvPr/>
        </p:nvSpPr>
        <p:spPr>
          <a:xfrm>
            <a:off x="8668221" y="4932267"/>
            <a:ext cx="153477" cy="0"/>
          </a:xfrm>
          <a:custGeom>
            <a:avLst/>
            <a:gdLst/>
            <a:ahLst/>
            <a:cxnLst/>
            <a:rect l="l" t="t" r="r" b="b"/>
            <a:pathLst>
              <a:path w="153477" h="0">
                <a:moveTo>
                  <a:pt x="0" y="0"/>
                </a:moveTo>
                <a:lnTo>
                  <a:pt x="153477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lecha 5"/>
          <p:cNvSpPr/>
          <p:nvPr/>
        </p:nvSpPr>
        <p:spPr>
          <a:xfrm>
            <a:off x="6135850" y="4011404"/>
            <a:ext cx="3560667" cy="429736"/>
          </a:xfrm>
          <a:custGeom>
            <a:avLst/>
            <a:gdLst/>
            <a:ahLst/>
            <a:cxnLst/>
            <a:rect l="l" t="t" r="r" b="b"/>
            <a:pathLst>
              <a:path w="3560667" h="429736">
                <a:moveTo>
                  <a:pt x="3560667" y="429736"/>
                </a:moveTo>
                <a:lnTo>
                  <a:pt x="3560667" y="245564"/>
                </a:lnTo>
                <a:lnTo>
                  <a:pt x="0" y="24556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lecha 6"/>
          <p:cNvSpPr/>
          <p:nvPr/>
        </p:nvSpPr>
        <p:spPr>
          <a:xfrm>
            <a:off x="10571336" y="4932267"/>
            <a:ext cx="905514" cy="920862"/>
          </a:xfrm>
          <a:custGeom>
            <a:avLst/>
            <a:gdLst/>
            <a:ahLst/>
            <a:cxnLst/>
            <a:rect l="l" t="t" r="r" b="b"/>
            <a:pathLst>
              <a:path w="905514" h="920862">
                <a:moveTo>
                  <a:pt x="0" y="0"/>
                </a:moveTo>
                <a:lnTo>
                  <a:pt x="905514" y="0"/>
                </a:lnTo>
                <a:lnTo>
                  <a:pt x="905514" y="920862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lecha 7"/>
          <p:cNvSpPr/>
          <p:nvPr/>
        </p:nvSpPr>
        <p:spPr>
          <a:xfrm>
            <a:off x="12228888" y="6282865"/>
            <a:ext cx="276258" cy="0"/>
          </a:xfrm>
          <a:custGeom>
            <a:avLst/>
            <a:gdLst/>
            <a:ahLst/>
            <a:cxnLst/>
            <a:rect l="l" t="t" r="r" b="b"/>
            <a:pathLst>
              <a:path w="276258" h="0">
                <a:moveTo>
                  <a:pt x="0" y="0"/>
                </a:moveTo>
                <a:lnTo>
                  <a:pt x="276258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lecha 8"/>
          <p:cNvSpPr/>
          <p:nvPr/>
        </p:nvSpPr>
        <p:spPr>
          <a:xfrm>
            <a:off x="14009221" y="6282865"/>
            <a:ext cx="813429" cy="859471"/>
          </a:xfrm>
          <a:custGeom>
            <a:avLst/>
            <a:gdLst/>
            <a:ahLst/>
            <a:cxnLst/>
            <a:rect l="l" t="t" r="r" b="b"/>
            <a:pathLst>
              <a:path w="813429" h="859471">
                <a:moveTo>
                  <a:pt x="0" y="0"/>
                </a:moveTo>
                <a:lnTo>
                  <a:pt x="813429" y="0"/>
                </a:lnTo>
                <a:lnTo>
                  <a:pt x="813429" y="859471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lecha 9"/>
          <p:cNvSpPr/>
          <p:nvPr/>
        </p:nvSpPr>
        <p:spPr>
          <a:xfrm>
            <a:off x="13297088" y="7633462"/>
            <a:ext cx="650743" cy="0"/>
          </a:xfrm>
          <a:custGeom>
            <a:avLst/>
            <a:gdLst/>
            <a:ahLst/>
            <a:cxnLst/>
            <a:rect l="l" t="t" r="r" b="b"/>
            <a:pathLst>
              <a:path w="650743" h="0">
                <a:moveTo>
                  <a:pt x="650743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lecha 10"/>
          <p:cNvSpPr/>
          <p:nvPr/>
        </p:nvSpPr>
        <p:spPr>
          <a:xfrm>
            <a:off x="15697469" y="7633462"/>
            <a:ext cx="491126" cy="0"/>
          </a:xfrm>
          <a:custGeom>
            <a:avLst/>
            <a:gdLst/>
            <a:ahLst/>
            <a:cxnLst/>
            <a:rect l="l" t="t" r="r" b="b"/>
            <a:pathLst>
              <a:path w="491126" h="0">
                <a:moveTo>
                  <a:pt x="0" y="0"/>
                </a:moveTo>
                <a:lnTo>
                  <a:pt x="491126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lecha 11"/>
          <p:cNvSpPr/>
          <p:nvPr/>
        </p:nvSpPr>
        <p:spPr>
          <a:xfrm>
            <a:off x="16817851" y="4011404"/>
            <a:ext cx="122782" cy="3192323"/>
          </a:xfrm>
          <a:custGeom>
            <a:avLst/>
            <a:gdLst/>
            <a:ahLst/>
            <a:cxnLst/>
            <a:rect l="l" t="t" r="r" b="b"/>
            <a:pathLst>
              <a:path w="122782" h="3192323">
                <a:moveTo>
                  <a:pt x="122782" y="3192323"/>
                </a:moveTo>
                <a:lnTo>
                  <a:pt x="122782" y="1596162"/>
                </a:lnTo>
                <a:lnTo>
                  <a:pt x="0" y="1596162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so n0"/>
          <p:cNvSpPr/>
          <p:nvPr/>
        </p:nvSpPr>
        <p:spPr>
          <a:xfrm>
            <a:off x="1823145" y="1801335"/>
            <a:ext cx="1504074" cy="8594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60" b="0">
                <a:solidFill>
                  <a:srgbClr val="14281E"/>
                </a:solidFill>
                <a:latin typeface="Calibri"/>
              </a:rPr>
              <a:t>Produce y embala el pedido</a:t>
            </a:r>
          </a:p>
        </p:txBody>
      </p:sp>
      <p:sp>
        <p:nvSpPr>
          <p:cNvPr id="25" name="Paso n1"/>
          <p:cNvSpPr/>
          <p:nvPr/>
        </p:nvSpPr>
        <p:spPr>
          <a:xfrm>
            <a:off x="3603479" y="5853129"/>
            <a:ext cx="1504074" cy="8594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60" b="0">
                <a:solidFill>
                  <a:srgbClr val="14281E"/>
                </a:solidFill>
                <a:latin typeface="Calibri"/>
              </a:rPr>
              <a:t>Booking de contenedor y flete a Buenos Aires</a:t>
            </a:r>
          </a:p>
        </p:txBody>
      </p:sp>
      <p:sp>
        <p:nvSpPr>
          <p:cNvPr id="26" name="Paso n2"/>
          <p:cNvSpPr/>
          <p:nvPr/>
        </p:nvSpPr>
        <p:spPr>
          <a:xfrm>
            <a:off x="5383812" y="3151933"/>
            <a:ext cx="1504074" cy="8594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60" b="0">
                <a:solidFill>
                  <a:srgbClr val="14281E"/>
                </a:solidFill>
                <a:latin typeface="Calibri"/>
              </a:rPr>
              <a:t>Documentos: factura, packing list, certificado de origen y sanitario</a:t>
            </a:r>
          </a:p>
        </p:txBody>
      </p:sp>
      <p:sp>
        <p:nvSpPr>
          <p:cNvPr id="27" name="Paso n3"/>
          <p:cNvSpPr/>
          <p:nvPr/>
        </p:nvSpPr>
        <p:spPr>
          <a:xfrm>
            <a:off x="7164146" y="4502531"/>
            <a:ext cx="1504074" cy="8594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60" b="0">
                <a:solidFill>
                  <a:srgbClr val="14281E"/>
                </a:solidFill>
                <a:latin typeface="Calibri"/>
              </a:rPr>
              <a:t>Oficializa el permiso de embarque (ARCA)</a:t>
            </a:r>
          </a:p>
        </p:txBody>
      </p:sp>
      <p:sp>
        <p:nvSpPr>
          <p:cNvPr id="28" name="Decisión n4"/>
          <p:cNvSpPr/>
          <p:nvPr/>
        </p:nvSpPr>
        <p:spPr>
          <a:xfrm>
            <a:off x="8821698" y="4441140"/>
            <a:ext cx="1749638" cy="982253"/>
          </a:xfrm>
          <a:prstGeom prst="diamond">
            <a:avLst/>
          </a:prstGeom>
          <a:solidFill>
            <a:srgbClr val="FCF4D6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9927" rIns="349927" tIns="18288" bIns="18288"/>
          <a:lstStyle/>
          <a:p>
            <a:pPr algn="ctr"/>
            <a:r>
              <a:rPr sz="1102" b="1">
                <a:solidFill>
                  <a:srgbClr val="14281E"/>
                </a:solidFill>
                <a:latin typeface="Calibri"/>
              </a:rPr>
              <a:t>¿Documentación conforme?</a:t>
            </a:r>
          </a:p>
        </p:txBody>
      </p:sp>
      <p:sp>
        <p:nvSpPr>
          <p:cNvPr id="29" name="Paso n5"/>
          <p:cNvSpPr/>
          <p:nvPr/>
        </p:nvSpPr>
        <p:spPr>
          <a:xfrm>
            <a:off x="10724813" y="5853129"/>
            <a:ext cx="1504074" cy="8594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60" b="0">
                <a:solidFill>
                  <a:srgbClr val="14281E"/>
                </a:solidFill>
                <a:latin typeface="Calibri"/>
              </a:rPr>
              <a:t>Embarque, B/L y seguro (saldo del 50 % pagado antes o contra B/L)</a:t>
            </a:r>
          </a:p>
        </p:txBody>
      </p:sp>
      <p:sp>
        <p:nvSpPr>
          <p:cNvPr id="30" name="Paso n6"/>
          <p:cNvSpPr/>
          <p:nvPr/>
        </p:nvSpPr>
        <p:spPr>
          <a:xfrm>
            <a:off x="12505146" y="5853129"/>
            <a:ext cx="1504074" cy="8594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60" b="0">
                <a:solidFill>
                  <a:srgbClr val="14281E"/>
                </a:solidFill>
                <a:latin typeface="Calibri"/>
              </a:rPr>
              <a:t>Viaje marítimo de 30 a 40 días a Beirut o Jebel Ali</a:t>
            </a:r>
          </a:p>
        </p:txBody>
      </p:sp>
      <p:sp>
        <p:nvSpPr>
          <p:cNvPr id="31" name="Decisión n7"/>
          <p:cNvSpPr/>
          <p:nvPr/>
        </p:nvSpPr>
        <p:spPr>
          <a:xfrm>
            <a:off x="13947831" y="7142336"/>
            <a:ext cx="1749638" cy="982253"/>
          </a:xfrm>
          <a:prstGeom prst="diamond">
            <a:avLst/>
          </a:prstGeom>
          <a:solidFill>
            <a:srgbClr val="FCF4D6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9927" rIns="349927" tIns="18288" bIns="18288"/>
          <a:lstStyle/>
          <a:p>
            <a:pPr algn="ctr"/>
            <a:r>
              <a:rPr sz="1102" b="1">
                <a:solidFill>
                  <a:srgbClr val="14281E"/>
                </a:solidFill>
                <a:latin typeface="Calibri"/>
              </a:rPr>
              <a:t>¿Aprueba aduana y sanidad?</a:t>
            </a:r>
          </a:p>
        </p:txBody>
      </p:sp>
      <p:sp>
        <p:nvSpPr>
          <p:cNvPr id="32" name="Paso n9"/>
          <p:cNvSpPr/>
          <p:nvPr/>
        </p:nvSpPr>
        <p:spPr>
          <a:xfrm>
            <a:off x="11793013" y="7203727"/>
            <a:ext cx="1504074" cy="8594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60" b="0">
                <a:solidFill>
                  <a:srgbClr val="14281E"/>
                </a:solidFill>
                <a:latin typeface="Calibri"/>
              </a:rPr>
              <a:t>Reclamo al seguro y nueva gestión</a:t>
            </a:r>
          </a:p>
        </p:txBody>
      </p:sp>
      <p:sp>
        <p:nvSpPr>
          <p:cNvPr id="33" name="Paso n8"/>
          <p:cNvSpPr/>
          <p:nvPr/>
        </p:nvSpPr>
        <p:spPr>
          <a:xfrm>
            <a:off x="16188595" y="7203727"/>
            <a:ext cx="1504074" cy="8594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60" b="0">
                <a:solidFill>
                  <a:srgbClr val="14281E"/>
                </a:solidFill>
                <a:latin typeface="Calibri"/>
              </a:rPr>
              <a:t>Recibe la yerba y la lleva por camión a Siria o Jordania</a:t>
            </a:r>
          </a:p>
        </p:txBody>
      </p:sp>
      <p:sp>
        <p:nvSpPr>
          <p:cNvPr id="34" name="Inicio/fin n10"/>
          <p:cNvSpPr/>
          <p:nvPr/>
        </p:nvSpPr>
        <p:spPr>
          <a:xfrm>
            <a:off x="16065814" y="3151933"/>
            <a:ext cx="1504074" cy="859471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60" b="1">
                <a:solidFill>
                  <a:srgbClr val="FFFFFF"/>
                </a:solidFill>
                <a:latin typeface="Calibri"/>
              </a:rPr>
              <a:t>Cobranza y cierre del embarque</a:t>
            </a:r>
          </a:p>
        </p:txBody>
      </p:sp>
      <p:sp>
        <p:nvSpPr>
          <p:cNvPr id="35" name="Etiqueta NO: corregir"/>
          <p:cNvSpPr/>
          <p:nvPr/>
        </p:nvSpPr>
        <p:spPr>
          <a:xfrm>
            <a:off x="9260642" y="3986848"/>
            <a:ext cx="1289207" cy="233285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60" b="1">
                <a:solidFill>
                  <a:srgbClr val="FFFFFF"/>
                </a:solidFill>
                <a:latin typeface="Calibri"/>
              </a:rPr>
              <a:t>NO: corregir</a:t>
            </a:r>
          </a:p>
        </p:txBody>
      </p:sp>
      <p:sp>
        <p:nvSpPr>
          <p:cNvPr id="36" name="Etiqueta SÍ"/>
          <p:cNvSpPr/>
          <p:nvPr/>
        </p:nvSpPr>
        <p:spPr>
          <a:xfrm>
            <a:off x="10839921" y="4656008"/>
            <a:ext cx="368344" cy="233285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60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37" name="Etiqueta NO"/>
          <p:cNvSpPr/>
          <p:nvPr/>
        </p:nvSpPr>
        <p:spPr>
          <a:xfrm>
            <a:off x="13438287" y="7357204"/>
            <a:ext cx="368344" cy="233285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60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8" name="Etiqueta SÍ"/>
          <p:cNvSpPr/>
          <p:nvPr/>
        </p:nvSpPr>
        <p:spPr>
          <a:xfrm>
            <a:off x="15758860" y="7357204"/>
            <a:ext cx="368344" cy="233285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60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8778240"/>
            <a:ext cx="1719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66259"/>
                </a:solidFill>
                <a:latin typeface="Calibri"/>
              </a:rPr>
              <a:t>El cliente produce y la consultora arma los documentos. La aduana oficializa el permiso de embarque; si falta algo, se corrige. Tras el viaje, el importador aprueba o reclama (seguro). Con la aprobación se cobra el saldo y se cierra el embarque.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719072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1F4D3A"/>
                </a:solidFill>
                <a:latin typeface="Cambria"/>
              </a:rPr>
              <a:t>Detalle 4: ingreso con Google y aprobación de la empresa</a:t>
            </a:r>
          </a:p>
        </p:txBody>
      </p:sp>
      <p:sp>
        <p:nvSpPr>
          <p:cNvPr id="3" name="Carril 1"/>
          <p:cNvSpPr/>
          <p:nvPr/>
        </p:nvSpPr>
        <p:spPr>
          <a:xfrm>
            <a:off x="457200" y="1550095"/>
            <a:ext cx="17373600" cy="1368468"/>
          </a:xfrm>
          <a:prstGeom prst="rect">
            <a:avLst/>
          </a:prstGeom>
          <a:solidFill>
            <a:srgbClr val="F6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ítulo carril 1"/>
          <p:cNvSpPr/>
          <p:nvPr/>
        </p:nvSpPr>
        <p:spPr>
          <a:xfrm>
            <a:off x="457200" y="1550095"/>
            <a:ext cx="1070975" cy="136846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18" b="1">
                <a:solidFill>
                  <a:srgbClr val="FFFFFF"/>
                </a:solidFill>
                <a:latin typeface="Calibri"/>
              </a:rPr>
              <a:t>Usuario (empresa árabe)</a:t>
            </a:r>
          </a:p>
        </p:txBody>
      </p:sp>
      <p:sp>
        <p:nvSpPr>
          <p:cNvPr id="5" name="Carril 2"/>
          <p:cNvSpPr/>
          <p:nvPr/>
        </p:nvSpPr>
        <p:spPr>
          <a:xfrm>
            <a:off x="457200" y="2918564"/>
            <a:ext cx="17373600" cy="1368468"/>
          </a:xfrm>
          <a:prstGeom prst="rect">
            <a:avLst/>
          </a:prstGeom>
          <a:solidFill>
            <a:srgbClr val="E8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ítulo carril 2"/>
          <p:cNvSpPr/>
          <p:nvPr/>
        </p:nvSpPr>
        <p:spPr>
          <a:xfrm>
            <a:off x="457200" y="2918564"/>
            <a:ext cx="1070975" cy="1368468"/>
          </a:xfrm>
          <a:prstGeom prst="rect">
            <a:avLst/>
          </a:prstGeom>
          <a:solidFill>
            <a:srgbClr val="3A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18" b="1">
                <a:solidFill>
                  <a:srgbClr val="FFFFFF"/>
                </a:solidFill>
                <a:latin typeface="Calibri"/>
              </a:rPr>
              <a:t>Servidor PHP</a:t>
            </a:r>
          </a:p>
        </p:txBody>
      </p:sp>
      <p:sp>
        <p:nvSpPr>
          <p:cNvPr id="7" name="Carril 3"/>
          <p:cNvSpPr/>
          <p:nvPr/>
        </p:nvSpPr>
        <p:spPr>
          <a:xfrm>
            <a:off x="457200" y="4287032"/>
            <a:ext cx="17373600" cy="1368468"/>
          </a:xfrm>
          <a:prstGeom prst="rect">
            <a:avLst/>
          </a:prstGeom>
          <a:solidFill>
            <a:srgbClr val="F6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ítulo carril 3"/>
          <p:cNvSpPr/>
          <p:nvPr/>
        </p:nvSpPr>
        <p:spPr>
          <a:xfrm>
            <a:off x="457200" y="4287032"/>
            <a:ext cx="1070975" cy="136846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18" b="1">
                <a:solidFill>
                  <a:srgbClr val="FFFFFF"/>
                </a:solidFill>
                <a:latin typeface="Calibri"/>
              </a:rPr>
              <a:t>Google</a:t>
            </a:r>
          </a:p>
        </p:txBody>
      </p:sp>
      <p:sp>
        <p:nvSpPr>
          <p:cNvPr id="9" name="Carril 4"/>
          <p:cNvSpPr/>
          <p:nvPr/>
        </p:nvSpPr>
        <p:spPr>
          <a:xfrm>
            <a:off x="457200" y="5655501"/>
            <a:ext cx="17373600" cy="1368468"/>
          </a:xfrm>
          <a:prstGeom prst="rect">
            <a:avLst/>
          </a:prstGeom>
          <a:solidFill>
            <a:srgbClr val="E8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ítulo carril 4"/>
          <p:cNvSpPr/>
          <p:nvPr/>
        </p:nvSpPr>
        <p:spPr>
          <a:xfrm>
            <a:off x="457200" y="5655501"/>
            <a:ext cx="1070975" cy="1368468"/>
          </a:xfrm>
          <a:prstGeom prst="rect">
            <a:avLst/>
          </a:prstGeom>
          <a:solidFill>
            <a:srgbClr val="3A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18" b="1">
                <a:solidFill>
                  <a:srgbClr val="FFFFFF"/>
                </a:solidFill>
                <a:latin typeface="Calibri"/>
              </a:rPr>
              <a:t>Base de datos</a:t>
            </a:r>
          </a:p>
        </p:txBody>
      </p:sp>
      <p:sp>
        <p:nvSpPr>
          <p:cNvPr id="11" name="Flecha 1"/>
          <p:cNvSpPr/>
          <p:nvPr/>
        </p:nvSpPr>
        <p:spPr>
          <a:xfrm>
            <a:off x="3283384" y="2234330"/>
            <a:ext cx="297494" cy="0"/>
          </a:xfrm>
          <a:custGeom>
            <a:avLst/>
            <a:gdLst/>
            <a:ahLst/>
            <a:cxnLst/>
            <a:rect l="l" t="t" r="r" b="b"/>
            <a:pathLst>
              <a:path w="297494" h="0">
                <a:moveTo>
                  <a:pt x="0" y="0"/>
                </a:moveTo>
                <a:lnTo>
                  <a:pt x="297494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lecha 2"/>
          <p:cNvSpPr/>
          <p:nvPr/>
        </p:nvSpPr>
        <p:spPr>
          <a:xfrm>
            <a:off x="4324610" y="2680569"/>
            <a:ext cx="1041226" cy="922229"/>
          </a:xfrm>
          <a:custGeom>
            <a:avLst/>
            <a:gdLst/>
            <a:ahLst/>
            <a:cxnLst/>
            <a:rect l="l" t="t" r="r" b="b"/>
            <a:pathLst>
              <a:path w="1041226" h="922229">
                <a:moveTo>
                  <a:pt x="0" y="0"/>
                </a:moveTo>
                <a:lnTo>
                  <a:pt x="0" y="922229"/>
                </a:lnTo>
                <a:lnTo>
                  <a:pt x="1041226" y="922229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echa 3"/>
          <p:cNvSpPr/>
          <p:nvPr/>
        </p:nvSpPr>
        <p:spPr>
          <a:xfrm>
            <a:off x="6853302" y="3602798"/>
            <a:ext cx="1041226" cy="922229"/>
          </a:xfrm>
          <a:custGeom>
            <a:avLst/>
            <a:gdLst/>
            <a:ahLst/>
            <a:cxnLst/>
            <a:rect l="l" t="t" r="r" b="b"/>
            <a:pathLst>
              <a:path w="1041226" h="922229">
                <a:moveTo>
                  <a:pt x="0" y="0"/>
                </a:moveTo>
                <a:lnTo>
                  <a:pt x="1041226" y="0"/>
                </a:lnTo>
                <a:lnTo>
                  <a:pt x="1041226" y="922229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echa 4"/>
          <p:cNvSpPr/>
          <p:nvPr/>
        </p:nvSpPr>
        <p:spPr>
          <a:xfrm>
            <a:off x="8638261" y="4108536"/>
            <a:ext cx="1041226" cy="862731"/>
          </a:xfrm>
          <a:custGeom>
            <a:avLst/>
            <a:gdLst/>
            <a:ahLst/>
            <a:cxnLst/>
            <a:rect l="l" t="t" r="r" b="b"/>
            <a:pathLst>
              <a:path w="1041226" h="862731">
                <a:moveTo>
                  <a:pt x="0" y="862731"/>
                </a:moveTo>
                <a:lnTo>
                  <a:pt x="1041226" y="862731"/>
                </a:lnTo>
                <a:lnTo>
                  <a:pt x="1041226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lecha 5"/>
          <p:cNvSpPr/>
          <p:nvPr/>
        </p:nvSpPr>
        <p:spPr>
          <a:xfrm>
            <a:off x="9679487" y="2680569"/>
            <a:ext cx="0" cy="416491"/>
          </a:xfrm>
          <a:custGeom>
            <a:avLst/>
            <a:gdLst/>
            <a:ahLst/>
            <a:cxnLst/>
            <a:rect l="l" t="t" r="r" b="b"/>
            <a:pathLst>
              <a:path w="0" h="416491">
                <a:moveTo>
                  <a:pt x="0" y="416491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echa 6"/>
          <p:cNvSpPr/>
          <p:nvPr/>
        </p:nvSpPr>
        <p:spPr>
          <a:xfrm>
            <a:off x="5068343" y="2234330"/>
            <a:ext cx="3867411" cy="0"/>
          </a:xfrm>
          <a:custGeom>
            <a:avLst/>
            <a:gdLst/>
            <a:ahLst/>
            <a:cxnLst/>
            <a:rect l="l" t="t" r="r" b="b"/>
            <a:pathLst>
              <a:path w="3867411" h="0">
                <a:moveTo>
                  <a:pt x="3867411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lecha 7"/>
          <p:cNvSpPr/>
          <p:nvPr/>
        </p:nvSpPr>
        <p:spPr>
          <a:xfrm>
            <a:off x="10542217" y="3602798"/>
            <a:ext cx="922229" cy="2290697"/>
          </a:xfrm>
          <a:custGeom>
            <a:avLst/>
            <a:gdLst/>
            <a:ahLst/>
            <a:cxnLst/>
            <a:rect l="l" t="t" r="r" b="b"/>
            <a:pathLst>
              <a:path w="922229" h="2290697">
                <a:moveTo>
                  <a:pt x="0" y="0"/>
                </a:moveTo>
                <a:lnTo>
                  <a:pt x="922229" y="0"/>
                </a:lnTo>
                <a:lnTo>
                  <a:pt x="922229" y="2290697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lecha 8"/>
          <p:cNvSpPr/>
          <p:nvPr/>
        </p:nvSpPr>
        <p:spPr>
          <a:xfrm>
            <a:off x="12208179" y="4108536"/>
            <a:ext cx="1041226" cy="2231199"/>
          </a:xfrm>
          <a:custGeom>
            <a:avLst/>
            <a:gdLst/>
            <a:ahLst/>
            <a:cxnLst/>
            <a:rect l="l" t="t" r="r" b="b"/>
            <a:pathLst>
              <a:path w="1041226" h="2231199">
                <a:moveTo>
                  <a:pt x="0" y="2231199"/>
                </a:moveTo>
                <a:lnTo>
                  <a:pt x="1041226" y="2231199"/>
                </a:lnTo>
                <a:lnTo>
                  <a:pt x="1041226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lecha 9"/>
          <p:cNvSpPr/>
          <p:nvPr/>
        </p:nvSpPr>
        <p:spPr>
          <a:xfrm>
            <a:off x="13249405" y="2680569"/>
            <a:ext cx="0" cy="416491"/>
          </a:xfrm>
          <a:custGeom>
            <a:avLst/>
            <a:gdLst/>
            <a:ahLst/>
            <a:cxnLst/>
            <a:rect l="l" t="t" r="r" b="b"/>
            <a:pathLst>
              <a:path w="0" h="416491">
                <a:moveTo>
                  <a:pt x="0" y="416491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lecha 10"/>
          <p:cNvSpPr/>
          <p:nvPr/>
        </p:nvSpPr>
        <p:spPr>
          <a:xfrm>
            <a:off x="13993138" y="2234330"/>
            <a:ext cx="297493" cy="0"/>
          </a:xfrm>
          <a:custGeom>
            <a:avLst/>
            <a:gdLst/>
            <a:ahLst/>
            <a:cxnLst/>
            <a:rect l="l" t="t" r="r" b="b"/>
            <a:pathLst>
              <a:path w="297493" h="0">
                <a:moveTo>
                  <a:pt x="0" y="0"/>
                </a:moveTo>
                <a:lnTo>
                  <a:pt x="297493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lecha 11"/>
          <p:cNvSpPr/>
          <p:nvPr/>
        </p:nvSpPr>
        <p:spPr>
          <a:xfrm>
            <a:off x="15778097" y="2234330"/>
            <a:ext cx="297493" cy="0"/>
          </a:xfrm>
          <a:custGeom>
            <a:avLst/>
            <a:gdLst/>
            <a:ahLst/>
            <a:cxnLst/>
            <a:rect l="l" t="t" r="r" b="b"/>
            <a:pathLst>
              <a:path w="297493" h="0">
                <a:moveTo>
                  <a:pt x="0" y="0"/>
                </a:moveTo>
                <a:lnTo>
                  <a:pt x="297493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lecha 12"/>
          <p:cNvSpPr/>
          <p:nvPr/>
        </p:nvSpPr>
        <p:spPr>
          <a:xfrm>
            <a:off x="14112135" y="2680569"/>
            <a:ext cx="2707188" cy="922229"/>
          </a:xfrm>
          <a:custGeom>
            <a:avLst/>
            <a:gdLst/>
            <a:ahLst/>
            <a:cxnLst/>
            <a:rect l="l" t="t" r="r" b="b"/>
            <a:pathLst>
              <a:path w="2707188" h="922229">
                <a:moveTo>
                  <a:pt x="0" y="922229"/>
                </a:moveTo>
                <a:lnTo>
                  <a:pt x="2707188" y="922229"/>
                </a:lnTo>
                <a:lnTo>
                  <a:pt x="2707188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nicio/fin n0"/>
          <p:cNvSpPr/>
          <p:nvPr/>
        </p:nvSpPr>
        <p:spPr>
          <a:xfrm>
            <a:off x="1795919" y="1788090"/>
            <a:ext cx="1487465" cy="892479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24" b="1">
                <a:solidFill>
                  <a:srgbClr val="FFFFFF"/>
                </a:solidFill>
                <a:latin typeface="Calibri"/>
              </a:rPr>
              <a:t>Entra al sitio y elige idioma (es, en, ar)</a:t>
            </a:r>
          </a:p>
        </p:txBody>
      </p:sp>
      <p:sp>
        <p:nvSpPr>
          <p:cNvPr id="24" name="Paso n1"/>
          <p:cNvSpPr/>
          <p:nvPr/>
        </p:nvSpPr>
        <p:spPr>
          <a:xfrm>
            <a:off x="3580878" y="1788090"/>
            <a:ext cx="1487465" cy="89247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24" b="0">
                <a:solidFill>
                  <a:srgbClr val="14281E"/>
                </a:solidFill>
                <a:latin typeface="Calibri"/>
              </a:rPr>
              <a:t>Toca «Continuar con Google»</a:t>
            </a:r>
          </a:p>
        </p:txBody>
      </p:sp>
      <p:sp>
        <p:nvSpPr>
          <p:cNvPr id="25" name="Paso n2"/>
          <p:cNvSpPr/>
          <p:nvPr/>
        </p:nvSpPr>
        <p:spPr>
          <a:xfrm>
            <a:off x="5365836" y="3156558"/>
            <a:ext cx="1487465" cy="89247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24" b="0">
                <a:solidFill>
                  <a:srgbClr val="14281E"/>
                </a:solidFill>
                <a:latin typeface="Calibri"/>
              </a:rPr>
              <a:t>Crea state y nonce y envía al usuario a Google</a:t>
            </a:r>
          </a:p>
        </p:txBody>
      </p:sp>
      <p:sp>
        <p:nvSpPr>
          <p:cNvPr id="26" name="Paso n3"/>
          <p:cNvSpPr/>
          <p:nvPr/>
        </p:nvSpPr>
        <p:spPr>
          <a:xfrm>
            <a:off x="7150795" y="4525027"/>
            <a:ext cx="1487465" cy="89247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24" b="0">
                <a:solidFill>
                  <a:srgbClr val="14281E"/>
                </a:solidFill>
                <a:latin typeface="Calibri"/>
              </a:rPr>
              <a:t>El usuario elige su cuenta y autoriza</a:t>
            </a:r>
          </a:p>
        </p:txBody>
      </p:sp>
      <p:sp>
        <p:nvSpPr>
          <p:cNvPr id="27" name="Decisión n4"/>
          <p:cNvSpPr/>
          <p:nvPr/>
        </p:nvSpPr>
        <p:spPr>
          <a:xfrm>
            <a:off x="8816757" y="3097060"/>
            <a:ext cx="1725460" cy="1011476"/>
          </a:xfrm>
          <a:prstGeom prst="diamond">
            <a:avLst/>
          </a:prstGeom>
          <a:solidFill>
            <a:srgbClr val="FCF4D6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5092" rIns="345092" tIns="18288" bIns="18288"/>
          <a:lstStyle/>
          <a:p>
            <a:pPr algn="ctr"/>
            <a:r>
              <a:rPr sz="1068" b="1">
                <a:solidFill>
                  <a:srgbClr val="14281E"/>
                </a:solidFill>
                <a:latin typeface="Calibri"/>
              </a:rPr>
              <a:t>¿Firma y email verificados?</a:t>
            </a:r>
          </a:p>
        </p:txBody>
      </p:sp>
      <p:sp>
        <p:nvSpPr>
          <p:cNvPr id="28" name="Paso n5"/>
          <p:cNvSpPr/>
          <p:nvPr/>
        </p:nvSpPr>
        <p:spPr>
          <a:xfrm>
            <a:off x="8935754" y="1788090"/>
            <a:ext cx="1487465" cy="89247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24" b="0">
                <a:solidFill>
                  <a:srgbClr val="14281E"/>
                </a:solidFill>
                <a:latin typeface="Calibri"/>
              </a:rPr>
              <a:t>Mensaje de error y registro del intento fallido</a:t>
            </a:r>
          </a:p>
        </p:txBody>
      </p:sp>
      <p:sp>
        <p:nvSpPr>
          <p:cNvPr id="29" name="Paso n6"/>
          <p:cNvSpPr/>
          <p:nvPr/>
        </p:nvSpPr>
        <p:spPr>
          <a:xfrm>
            <a:off x="10720713" y="5893495"/>
            <a:ext cx="1487465" cy="89247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24" b="0">
                <a:solidFill>
                  <a:srgbClr val="14281E"/>
                </a:solidFill>
                <a:latin typeface="Calibri"/>
              </a:rPr>
              <a:t>Crea o actualiza el usuario y guarda el ingreso (IP, país)</a:t>
            </a:r>
          </a:p>
        </p:txBody>
      </p:sp>
      <p:sp>
        <p:nvSpPr>
          <p:cNvPr id="30" name="Decisión n7"/>
          <p:cNvSpPr/>
          <p:nvPr/>
        </p:nvSpPr>
        <p:spPr>
          <a:xfrm>
            <a:off x="12386675" y="3097060"/>
            <a:ext cx="1725460" cy="1011476"/>
          </a:xfrm>
          <a:prstGeom prst="diamond">
            <a:avLst/>
          </a:prstGeom>
          <a:solidFill>
            <a:srgbClr val="FCF4D6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5092" rIns="345092" tIns="18288" bIns="18288"/>
          <a:lstStyle/>
          <a:p>
            <a:pPr algn="ctr"/>
            <a:r>
              <a:rPr sz="1068" b="1">
                <a:solidFill>
                  <a:srgbClr val="14281E"/>
                </a:solidFill>
                <a:latin typeface="Calibri"/>
              </a:rPr>
              <a:t>¿Perfil de empresa completo y aprobado?</a:t>
            </a:r>
          </a:p>
        </p:txBody>
      </p:sp>
      <p:sp>
        <p:nvSpPr>
          <p:cNvPr id="31" name="Paso n8"/>
          <p:cNvSpPr/>
          <p:nvPr/>
        </p:nvSpPr>
        <p:spPr>
          <a:xfrm>
            <a:off x="12505672" y="1788090"/>
            <a:ext cx="1487465" cy="89247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24" b="0">
                <a:solidFill>
                  <a:srgbClr val="14281E"/>
                </a:solidFill>
                <a:latin typeface="Calibri"/>
              </a:rPr>
              <a:t>Completa datos de la empresa y espera la aprobación</a:t>
            </a:r>
          </a:p>
        </p:txBody>
      </p:sp>
      <p:sp>
        <p:nvSpPr>
          <p:cNvPr id="32" name="Paso n9"/>
          <p:cNvSpPr/>
          <p:nvPr/>
        </p:nvSpPr>
        <p:spPr>
          <a:xfrm>
            <a:off x="14290631" y="1788090"/>
            <a:ext cx="1487465" cy="89247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24" b="0">
                <a:solidFill>
                  <a:srgbClr val="14281E"/>
                </a:solidFill>
                <a:latin typeface="Calibri"/>
              </a:rPr>
              <a:t>El administrador revisa el registro comercial y aprueba</a:t>
            </a:r>
          </a:p>
        </p:txBody>
      </p:sp>
      <p:sp>
        <p:nvSpPr>
          <p:cNvPr id="33" name="Inicio/fin n10"/>
          <p:cNvSpPr/>
          <p:nvPr/>
        </p:nvSpPr>
        <p:spPr>
          <a:xfrm>
            <a:off x="16075590" y="1788090"/>
            <a:ext cx="1487465" cy="892479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24" b="1">
                <a:solidFill>
                  <a:srgbClr val="FFFFFF"/>
                </a:solidFill>
                <a:latin typeface="Calibri"/>
              </a:rPr>
              <a:t>Ve precios y pide cotización</a:t>
            </a:r>
          </a:p>
        </p:txBody>
      </p:sp>
      <p:sp>
        <p:nvSpPr>
          <p:cNvPr id="34" name="Etiqueta NO"/>
          <p:cNvSpPr/>
          <p:nvPr/>
        </p:nvSpPr>
        <p:spPr>
          <a:xfrm>
            <a:off x="9703287" y="2775767"/>
            <a:ext cx="356991" cy="226094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24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5" name="Etiqueta SÍ"/>
          <p:cNvSpPr/>
          <p:nvPr/>
        </p:nvSpPr>
        <p:spPr>
          <a:xfrm>
            <a:off x="10824836" y="3335054"/>
            <a:ext cx="356991" cy="226094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24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36" name="Etiqueta NO"/>
          <p:cNvSpPr/>
          <p:nvPr/>
        </p:nvSpPr>
        <p:spPr>
          <a:xfrm>
            <a:off x="13273204" y="2775767"/>
            <a:ext cx="356991" cy="226094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24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7" name="Etiqueta SÍ"/>
          <p:cNvSpPr/>
          <p:nvPr/>
        </p:nvSpPr>
        <p:spPr>
          <a:xfrm>
            <a:off x="15287233" y="3335054"/>
            <a:ext cx="356991" cy="226094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24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8778240"/>
            <a:ext cx="1719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66259"/>
                </a:solidFill>
                <a:latin typeface="Calibri"/>
              </a:rPr>
              <a:t>El usuario toca «Continuar con Google». El servidor valida firma, emisor, vencimiento y email verificado; si algo falla, lo registra. Si todo está bien crea o actualiza el usuario y guarda el ingreso. Los precios y pedidos se habilitan cuando la empresa completa sus datos y el administrador la aprueba.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719072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1F4D3A"/>
                </a:solidFill>
                <a:latin typeface="Cambria"/>
              </a:rPr>
              <a:t>Detalle 5: pedido con seña del 50 %</a:t>
            </a:r>
          </a:p>
        </p:txBody>
      </p:sp>
      <p:sp>
        <p:nvSpPr>
          <p:cNvPr id="3" name="Carril 1"/>
          <p:cNvSpPr/>
          <p:nvPr/>
        </p:nvSpPr>
        <p:spPr>
          <a:xfrm>
            <a:off x="457200" y="1539731"/>
            <a:ext cx="17373600" cy="1401096"/>
          </a:xfrm>
          <a:prstGeom prst="rect">
            <a:avLst/>
          </a:prstGeom>
          <a:solidFill>
            <a:srgbClr val="F6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ítulo carril 1"/>
          <p:cNvSpPr/>
          <p:nvPr/>
        </p:nvSpPr>
        <p:spPr>
          <a:xfrm>
            <a:off x="457200" y="1539731"/>
            <a:ext cx="1008789" cy="1401096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1">
                <a:solidFill>
                  <a:srgbClr val="FFFFFF"/>
                </a:solidFill>
                <a:latin typeface="Calibri"/>
              </a:rPr>
              <a:t>Cliente (importador)</a:t>
            </a:r>
          </a:p>
        </p:txBody>
      </p:sp>
      <p:sp>
        <p:nvSpPr>
          <p:cNvPr id="5" name="Carril 2"/>
          <p:cNvSpPr/>
          <p:nvPr/>
        </p:nvSpPr>
        <p:spPr>
          <a:xfrm>
            <a:off x="457200" y="2940828"/>
            <a:ext cx="17373600" cy="1401096"/>
          </a:xfrm>
          <a:prstGeom prst="rect">
            <a:avLst/>
          </a:prstGeom>
          <a:solidFill>
            <a:srgbClr val="E8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ítulo carril 2"/>
          <p:cNvSpPr/>
          <p:nvPr/>
        </p:nvSpPr>
        <p:spPr>
          <a:xfrm>
            <a:off x="457200" y="2940828"/>
            <a:ext cx="1008789" cy="1401096"/>
          </a:xfrm>
          <a:prstGeom prst="rect">
            <a:avLst/>
          </a:prstGeom>
          <a:solidFill>
            <a:srgbClr val="3A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1">
                <a:solidFill>
                  <a:srgbClr val="FFFFFF"/>
                </a:solidFill>
                <a:latin typeface="Calibri"/>
              </a:rPr>
              <a:t>Rumbo Global y yerbatera</a:t>
            </a:r>
          </a:p>
        </p:txBody>
      </p:sp>
      <p:sp>
        <p:nvSpPr>
          <p:cNvPr id="7" name="Carril 3"/>
          <p:cNvSpPr/>
          <p:nvPr/>
        </p:nvSpPr>
        <p:spPr>
          <a:xfrm>
            <a:off x="457200" y="4341925"/>
            <a:ext cx="17373600" cy="1401096"/>
          </a:xfrm>
          <a:prstGeom prst="rect">
            <a:avLst/>
          </a:prstGeom>
          <a:solidFill>
            <a:srgbClr val="F6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ítulo carril 3"/>
          <p:cNvSpPr/>
          <p:nvPr/>
        </p:nvSpPr>
        <p:spPr>
          <a:xfrm>
            <a:off x="457200" y="4341925"/>
            <a:ext cx="1008789" cy="1401096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47" b="1">
                <a:solidFill>
                  <a:srgbClr val="FFFFFF"/>
                </a:solidFill>
                <a:latin typeface="Calibri"/>
              </a:rPr>
              <a:t>Banco</a:t>
            </a:r>
          </a:p>
        </p:txBody>
      </p:sp>
      <p:sp>
        <p:nvSpPr>
          <p:cNvPr id="9" name="Flecha 1"/>
          <p:cNvSpPr/>
          <p:nvPr/>
        </p:nvSpPr>
        <p:spPr>
          <a:xfrm>
            <a:off x="3175327" y="2240280"/>
            <a:ext cx="1092856" cy="980767"/>
          </a:xfrm>
          <a:custGeom>
            <a:avLst/>
            <a:gdLst/>
            <a:ahLst/>
            <a:cxnLst/>
            <a:rect l="l" t="t" r="r" b="b"/>
            <a:pathLst>
              <a:path w="1092856" h="980767">
                <a:moveTo>
                  <a:pt x="0" y="0"/>
                </a:moveTo>
                <a:lnTo>
                  <a:pt x="1092856" y="0"/>
                </a:lnTo>
                <a:lnTo>
                  <a:pt x="1092856" y="980767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echa 2"/>
          <p:cNvSpPr/>
          <p:nvPr/>
        </p:nvSpPr>
        <p:spPr>
          <a:xfrm>
            <a:off x="4968731" y="2660609"/>
            <a:ext cx="1092856" cy="980767"/>
          </a:xfrm>
          <a:custGeom>
            <a:avLst/>
            <a:gdLst/>
            <a:ahLst/>
            <a:cxnLst/>
            <a:rect l="l" t="t" r="r" b="b"/>
            <a:pathLst>
              <a:path w="1092856" h="980767">
                <a:moveTo>
                  <a:pt x="0" y="980767"/>
                </a:moveTo>
                <a:lnTo>
                  <a:pt x="1092856" y="980767"/>
                </a:lnTo>
                <a:lnTo>
                  <a:pt x="1092856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lecha 3"/>
          <p:cNvSpPr/>
          <p:nvPr/>
        </p:nvSpPr>
        <p:spPr>
          <a:xfrm>
            <a:off x="6762135" y="2240280"/>
            <a:ext cx="280219" cy="0"/>
          </a:xfrm>
          <a:custGeom>
            <a:avLst/>
            <a:gdLst/>
            <a:ahLst/>
            <a:cxnLst/>
            <a:rect l="l" t="t" r="r" b="b"/>
            <a:pathLst>
              <a:path w="280219" h="0">
                <a:moveTo>
                  <a:pt x="0" y="0"/>
                </a:moveTo>
                <a:lnTo>
                  <a:pt x="280219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lecha 4"/>
          <p:cNvSpPr/>
          <p:nvPr/>
        </p:nvSpPr>
        <p:spPr>
          <a:xfrm>
            <a:off x="7854990" y="2716652"/>
            <a:ext cx="0" cy="504395"/>
          </a:xfrm>
          <a:custGeom>
            <a:avLst/>
            <a:gdLst/>
            <a:ahLst/>
            <a:cxnLst/>
            <a:rect l="l" t="t" r="r" b="b"/>
            <a:pathLst>
              <a:path w="0" h="504395">
                <a:moveTo>
                  <a:pt x="0" y="0"/>
                </a:moveTo>
                <a:lnTo>
                  <a:pt x="0" y="504395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echa 5"/>
          <p:cNvSpPr/>
          <p:nvPr/>
        </p:nvSpPr>
        <p:spPr>
          <a:xfrm>
            <a:off x="8667627" y="2240280"/>
            <a:ext cx="980767" cy="2381864"/>
          </a:xfrm>
          <a:custGeom>
            <a:avLst/>
            <a:gdLst/>
            <a:ahLst/>
            <a:cxnLst/>
            <a:rect l="l" t="t" r="r" b="b"/>
            <a:pathLst>
              <a:path w="980767" h="2381864">
                <a:moveTo>
                  <a:pt x="0" y="0"/>
                </a:moveTo>
                <a:lnTo>
                  <a:pt x="980767" y="0"/>
                </a:lnTo>
                <a:lnTo>
                  <a:pt x="980767" y="2381864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echa 6"/>
          <p:cNvSpPr/>
          <p:nvPr/>
        </p:nvSpPr>
        <p:spPr>
          <a:xfrm>
            <a:off x="10348943" y="2240280"/>
            <a:ext cx="392307" cy="2802193"/>
          </a:xfrm>
          <a:custGeom>
            <a:avLst/>
            <a:gdLst/>
            <a:ahLst/>
            <a:cxnLst/>
            <a:rect l="l" t="t" r="r" b="b"/>
            <a:pathLst>
              <a:path w="392307" h="2802193">
                <a:moveTo>
                  <a:pt x="0" y="2802193"/>
                </a:moveTo>
                <a:lnTo>
                  <a:pt x="196153" y="2802193"/>
                </a:lnTo>
                <a:lnTo>
                  <a:pt x="196153" y="0"/>
                </a:lnTo>
                <a:lnTo>
                  <a:pt x="392307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lecha 7"/>
          <p:cNvSpPr/>
          <p:nvPr/>
        </p:nvSpPr>
        <p:spPr>
          <a:xfrm>
            <a:off x="11441798" y="2660609"/>
            <a:ext cx="980768" cy="980767"/>
          </a:xfrm>
          <a:custGeom>
            <a:avLst/>
            <a:gdLst/>
            <a:ahLst/>
            <a:cxnLst/>
            <a:rect l="l" t="t" r="r" b="b"/>
            <a:pathLst>
              <a:path w="980768" h="980767">
                <a:moveTo>
                  <a:pt x="0" y="0"/>
                </a:moveTo>
                <a:lnTo>
                  <a:pt x="0" y="980767"/>
                </a:lnTo>
                <a:lnTo>
                  <a:pt x="980768" y="980767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echa 8"/>
          <p:cNvSpPr/>
          <p:nvPr/>
        </p:nvSpPr>
        <p:spPr>
          <a:xfrm>
            <a:off x="13235202" y="2660609"/>
            <a:ext cx="0" cy="504394"/>
          </a:xfrm>
          <a:custGeom>
            <a:avLst/>
            <a:gdLst/>
            <a:ahLst/>
            <a:cxnLst/>
            <a:rect l="l" t="t" r="r" b="b"/>
            <a:pathLst>
              <a:path w="0" h="504394">
                <a:moveTo>
                  <a:pt x="0" y="504394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lecha 9"/>
          <p:cNvSpPr/>
          <p:nvPr/>
        </p:nvSpPr>
        <p:spPr>
          <a:xfrm>
            <a:off x="12142347" y="2240280"/>
            <a:ext cx="392307" cy="0"/>
          </a:xfrm>
          <a:custGeom>
            <a:avLst/>
            <a:gdLst/>
            <a:ahLst/>
            <a:cxnLst/>
            <a:rect l="l" t="t" r="r" b="b"/>
            <a:pathLst>
              <a:path w="392307" h="0">
                <a:moveTo>
                  <a:pt x="392307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lecha 10"/>
          <p:cNvSpPr/>
          <p:nvPr/>
        </p:nvSpPr>
        <p:spPr>
          <a:xfrm>
            <a:off x="14047838" y="3641376"/>
            <a:ext cx="280220" cy="0"/>
          </a:xfrm>
          <a:custGeom>
            <a:avLst/>
            <a:gdLst/>
            <a:ahLst/>
            <a:cxnLst/>
            <a:rect l="l" t="t" r="r" b="b"/>
            <a:pathLst>
              <a:path w="280220" h="0">
                <a:moveTo>
                  <a:pt x="0" y="0"/>
                </a:moveTo>
                <a:lnTo>
                  <a:pt x="280220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lecha 11"/>
          <p:cNvSpPr/>
          <p:nvPr/>
        </p:nvSpPr>
        <p:spPr>
          <a:xfrm>
            <a:off x="15729154" y="3641376"/>
            <a:ext cx="392307" cy="0"/>
          </a:xfrm>
          <a:custGeom>
            <a:avLst/>
            <a:gdLst/>
            <a:ahLst/>
            <a:cxnLst/>
            <a:rect l="l" t="t" r="r" b="b"/>
            <a:pathLst>
              <a:path w="392307" h="0">
                <a:moveTo>
                  <a:pt x="0" y="0"/>
                </a:moveTo>
                <a:lnTo>
                  <a:pt x="392307" y="0"/>
                </a:lnTo>
              </a:path>
            </a:pathLst>
          </a:custGeom>
          <a:noFill/>
          <a:ln w="19050">
            <a:solidFill>
              <a:srgbClr val="1F4D3A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nicio/fin n0"/>
          <p:cNvSpPr/>
          <p:nvPr/>
        </p:nvSpPr>
        <p:spPr>
          <a:xfrm>
            <a:off x="1774230" y="1819950"/>
            <a:ext cx="1401096" cy="840658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9" b="1">
                <a:solidFill>
                  <a:srgbClr val="FFFFFF"/>
                </a:solidFill>
                <a:latin typeface="Calibri"/>
              </a:rPr>
              <a:t>Pide cotización (mínimo 1.000 kg, máximo 3 pedidos abiertos)</a:t>
            </a:r>
          </a:p>
        </p:txBody>
      </p:sp>
      <p:sp>
        <p:nvSpPr>
          <p:cNvPr id="21" name="Paso n1"/>
          <p:cNvSpPr/>
          <p:nvPr/>
        </p:nvSpPr>
        <p:spPr>
          <a:xfrm>
            <a:off x="3567634" y="3221047"/>
            <a:ext cx="1401096" cy="8406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9" b="0">
                <a:solidFill>
                  <a:srgbClr val="14281E"/>
                </a:solidFill>
                <a:latin typeface="Calibri"/>
              </a:rPr>
              <a:t>Emite la proforma: precio, total y seña del 50 %</a:t>
            </a:r>
          </a:p>
        </p:txBody>
      </p:sp>
      <p:sp>
        <p:nvSpPr>
          <p:cNvPr id="22" name="Paso n2"/>
          <p:cNvSpPr/>
          <p:nvPr/>
        </p:nvSpPr>
        <p:spPr>
          <a:xfrm>
            <a:off x="5361038" y="1819950"/>
            <a:ext cx="1401096" cy="8406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9" b="0">
                <a:solidFill>
                  <a:srgbClr val="14281E"/>
                </a:solidFill>
                <a:latin typeface="Calibri"/>
              </a:rPr>
              <a:t>Revisa la proforma y acepta los términos</a:t>
            </a:r>
          </a:p>
        </p:txBody>
      </p:sp>
      <p:sp>
        <p:nvSpPr>
          <p:cNvPr id="23" name="Decisión n3"/>
          <p:cNvSpPr/>
          <p:nvPr/>
        </p:nvSpPr>
        <p:spPr>
          <a:xfrm>
            <a:off x="7042354" y="1763907"/>
            <a:ext cx="1625272" cy="952745"/>
          </a:xfrm>
          <a:prstGeom prst="diamond">
            <a:avLst/>
          </a:prstGeom>
          <a:solidFill>
            <a:srgbClr val="FCF4D6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5054" rIns="325054" tIns="18288" bIns="18288"/>
          <a:lstStyle/>
          <a:p>
            <a:pPr algn="ctr"/>
            <a:r>
              <a:rPr sz="1006" b="1">
                <a:solidFill>
                  <a:srgbClr val="14281E"/>
                </a:solidFill>
                <a:latin typeface="Calibri"/>
              </a:rPr>
              <a:t>¿Paga la seña antes de 5 días?</a:t>
            </a:r>
          </a:p>
        </p:txBody>
      </p:sp>
      <p:sp>
        <p:nvSpPr>
          <p:cNvPr id="24" name="Inicio/fin n4"/>
          <p:cNvSpPr/>
          <p:nvPr/>
        </p:nvSpPr>
        <p:spPr>
          <a:xfrm>
            <a:off x="7154442" y="3221047"/>
            <a:ext cx="1401096" cy="840658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9" b="1">
                <a:solidFill>
                  <a:srgbClr val="FFFFFF"/>
                </a:solidFill>
                <a:latin typeface="Calibri"/>
              </a:rPr>
              <a:t>La proforma vence y el pedido se cancela</a:t>
            </a:r>
          </a:p>
        </p:txBody>
      </p:sp>
      <p:sp>
        <p:nvSpPr>
          <p:cNvPr id="25" name="Paso n5"/>
          <p:cNvSpPr/>
          <p:nvPr/>
        </p:nvSpPr>
        <p:spPr>
          <a:xfrm>
            <a:off x="8947846" y="4622144"/>
            <a:ext cx="1401096" cy="8406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9" b="0">
                <a:solidFill>
                  <a:srgbClr val="14281E"/>
                </a:solidFill>
                <a:latin typeface="Calibri"/>
              </a:rPr>
              <a:t>Transferencia internacional o carta de crédito</a:t>
            </a:r>
          </a:p>
        </p:txBody>
      </p:sp>
      <p:sp>
        <p:nvSpPr>
          <p:cNvPr id="26" name="Paso n6"/>
          <p:cNvSpPr/>
          <p:nvPr/>
        </p:nvSpPr>
        <p:spPr>
          <a:xfrm>
            <a:off x="10741250" y="1819950"/>
            <a:ext cx="1401096" cy="8406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9" b="0">
                <a:solidFill>
                  <a:srgbClr val="14281E"/>
                </a:solidFill>
                <a:latin typeface="Calibri"/>
              </a:rPr>
              <a:t>Informa la transferencia en el sitio</a:t>
            </a:r>
          </a:p>
        </p:txBody>
      </p:sp>
      <p:sp>
        <p:nvSpPr>
          <p:cNvPr id="27" name="Decisión n7"/>
          <p:cNvSpPr/>
          <p:nvPr/>
        </p:nvSpPr>
        <p:spPr>
          <a:xfrm>
            <a:off x="12422566" y="3165003"/>
            <a:ext cx="1625272" cy="952745"/>
          </a:xfrm>
          <a:prstGeom prst="diamond">
            <a:avLst/>
          </a:prstGeom>
          <a:solidFill>
            <a:srgbClr val="FCF4D6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5054" rIns="325054" tIns="18288" bIns="18288"/>
          <a:lstStyle/>
          <a:p>
            <a:pPr algn="ctr"/>
            <a:r>
              <a:rPr sz="1006" b="1">
                <a:solidFill>
                  <a:srgbClr val="14281E"/>
                </a:solidFill>
                <a:latin typeface="Calibri"/>
              </a:rPr>
              <a:t>¿Seña acreditada en el banco?</a:t>
            </a:r>
          </a:p>
        </p:txBody>
      </p:sp>
      <p:sp>
        <p:nvSpPr>
          <p:cNvPr id="28" name="Paso n8"/>
          <p:cNvSpPr/>
          <p:nvPr/>
        </p:nvSpPr>
        <p:spPr>
          <a:xfrm>
            <a:off x="12534654" y="1819950"/>
            <a:ext cx="1401096" cy="8406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9" b="0">
                <a:solidFill>
                  <a:srgbClr val="14281E"/>
                </a:solidFill>
                <a:latin typeface="Calibri"/>
              </a:rPr>
              <a:t>Corrige o completa el pago</a:t>
            </a:r>
          </a:p>
        </p:txBody>
      </p:sp>
      <p:sp>
        <p:nvSpPr>
          <p:cNvPr id="29" name="Paso n9"/>
          <p:cNvSpPr/>
          <p:nvPr/>
        </p:nvSpPr>
        <p:spPr>
          <a:xfrm>
            <a:off x="14328058" y="3221047"/>
            <a:ext cx="1401096" cy="8406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4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9" b="0">
                <a:solidFill>
                  <a:srgbClr val="14281E"/>
                </a:solidFill>
                <a:latin typeface="Calibri"/>
              </a:rPr>
              <a:t>Confirma el pedido: produce y reserva el contenedor</a:t>
            </a:r>
          </a:p>
        </p:txBody>
      </p:sp>
      <p:sp>
        <p:nvSpPr>
          <p:cNvPr id="30" name="Inicio/fin n10"/>
          <p:cNvSpPr/>
          <p:nvPr/>
        </p:nvSpPr>
        <p:spPr>
          <a:xfrm>
            <a:off x="16121461" y="3221047"/>
            <a:ext cx="1401096" cy="840658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9" b="1">
                <a:solidFill>
                  <a:srgbClr val="FFFFFF"/>
                </a:solidFill>
                <a:latin typeface="Calibri"/>
              </a:rPr>
              <a:t>Saldo del 50 % antes de cargar o contra B/L: embarque</a:t>
            </a:r>
          </a:p>
        </p:txBody>
      </p:sp>
      <p:sp>
        <p:nvSpPr>
          <p:cNvPr id="31" name="Etiqueta NO"/>
          <p:cNvSpPr/>
          <p:nvPr/>
        </p:nvSpPr>
        <p:spPr>
          <a:xfrm>
            <a:off x="7877408" y="2862366"/>
            <a:ext cx="336263" cy="212966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9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2" name="Etiqueta SÍ"/>
          <p:cNvSpPr/>
          <p:nvPr/>
        </p:nvSpPr>
        <p:spPr>
          <a:xfrm>
            <a:off x="8989879" y="1988082"/>
            <a:ext cx="336263" cy="212966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9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33" name="Etiqueta NO"/>
          <p:cNvSpPr/>
          <p:nvPr/>
        </p:nvSpPr>
        <p:spPr>
          <a:xfrm>
            <a:off x="13257620" y="2806323"/>
            <a:ext cx="336263" cy="212966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9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4" name="Etiqueta SÍ"/>
          <p:cNvSpPr/>
          <p:nvPr/>
        </p:nvSpPr>
        <p:spPr>
          <a:xfrm>
            <a:off x="14019816" y="3389179"/>
            <a:ext cx="336263" cy="212966"/>
          </a:xfrm>
          <a:prstGeom prst="roundRect">
            <a:avLst>
              <a:gd name="adj" fmla="val 3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9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8778240"/>
            <a:ext cx="1719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66259"/>
                </a:solidFill>
                <a:latin typeface="Calibri"/>
              </a:rPr>
              <a:t>Después de la cotización se emite una proforma válida por 5 días. Sin la seña acreditada en el banco no se confirma el pedido, no se produce ni se reserva el contenedor. El saldo del 50 % se paga antes de cargar o contra la copia del B/L.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719072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111111"/>
                </a:solidFill>
                <a:latin typeface="Cambria"/>
              </a:rPr>
              <a:t>Detalle 6: ciclo de trabajo de la consultora</a:t>
            </a:r>
          </a:p>
        </p:txBody>
      </p:sp>
      <p:sp>
        <p:nvSpPr>
          <p:cNvPr id="3" name="Flecha 1"/>
          <p:cNvSpPr/>
          <p:nvPr/>
        </p:nvSpPr>
        <p:spPr>
          <a:xfrm>
            <a:off x="3388995" y="2819400"/>
            <a:ext cx="1085850" cy="0"/>
          </a:xfrm>
          <a:custGeom>
            <a:avLst/>
            <a:gdLst/>
            <a:ahLst/>
            <a:cxnLst/>
            <a:rect l="l" t="t" r="r" b="b"/>
            <a:pathLst>
              <a:path w="1085850" h="0">
                <a:moveTo>
                  <a:pt x="0" y="0"/>
                </a:moveTo>
                <a:lnTo>
                  <a:pt x="1085850" y="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echa 2"/>
          <p:cNvSpPr/>
          <p:nvPr/>
        </p:nvSpPr>
        <p:spPr>
          <a:xfrm>
            <a:off x="6863715" y="2819400"/>
            <a:ext cx="1085850" cy="0"/>
          </a:xfrm>
          <a:custGeom>
            <a:avLst/>
            <a:gdLst/>
            <a:ahLst/>
            <a:cxnLst/>
            <a:rect l="l" t="t" r="r" b="b"/>
            <a:pathLst>
              <a:path w="1085850" h="0">
                <a:moveTo>
                  <a:pt x="0" y="0"/>
                </a:moveTo>
                <a:lnTo>
                  <a:pt x="1085850" y="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lecha 3"/>
          <p:cNvSpPr/>
          <p:nvPr/>
        </p:nvSpPr>
        <p:spPr>
          <a:xfrm>
            <a:off x="10338435" y="2819400"/>
            <a:ext cx="941070" cy="0"/>
          </a:xfrm>
          <a:custGeom>
            <a:avLst/>
            <a:gdLst/>
            <a:ahLst/>
            <a:cxnLst/>
            <a:rect l="l" t="t" r="r" b="b"/>
            <a:pathLst>
              <a:path w="941070" h="0">
                <a:moveTo>
                  <a:pt x="0" y="0"/>
                </a:moveTo>
                <a:lnTo>
                  <a:pt x="941070" y="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echa 4"/>
          <p:cNvSpPr/>
          <p:nvPr/>
        </p:nvSpPr>
        <p:spPr>
          <a:xfrm>
            <a:off x="13957935" y="2819400"/>
            <a:ext cx="941070" cy="0"/>
          </a:xfrm>
          <a:custGeom>
            <a:avLst/>
            <a:gdLst/>
            <a:ahLst/>
            <a:cxnLst/>
            <a:rect l="l" t="t" r="r" b="b"/>
            <a:pathLst>
              <a:path w="941070" h="0">
                <a:moveTo>
                  <a:pt x="0" y="0"/>
                </a:moveTo>
                <a:lnTo>
                  <a:pt x="941070" y="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echa 5"/>
          <p:cNvSpPr/>
          <p:nvPr/>
        </p:nvSpPr>
        <p:spPr>
          <a:xfrm>
            <a:off x="5669280" y="1914525"/>
            <a:ext cx="6949440" cy="289560"/>
          </a:xfrm>
          <a:custGeom>
            <a:avLst/>
            <a:gdLst/>
            <a:ahLst/>
            <a:cxnLst/>
            <a:rect l="l" t="t" r="r" b="b"/>
            <a:pathLst>
              <a:path w="6949440" h="289560">
                <a:moveTo>
                  <a:pt x="6949440" y="217170"/>
                </a:moveTo>
                <a:lnTo>
                  <a:pt x="6949440" y="0"/>
                </a:lnTo>
                <a:lnTo>
                  <a:pt x="0" y="0"/>
                </a:lnTo>
                <a:lnTo>
                  <a:pt x="0" y="28956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lecha 6"/>
          <p:cNvSpPr/>
          <p:nvPr/>
        </p:nvSpPr>
        <p:spPr>
          <a:xfrm>
            <a:off x="16093440" y="3434715"/>
            <a:ext cx="0" cy="1230630"/>
          </a:xfrm>
          <a:custGeom>
            <a:avLst/>
            <a:gdLst/>
            <a:ahLst/>
            <a:cxnLst/>
            <a:rect l="l" t="t" r="r" b="b"/>
            <a:pathLst>
              <a:path w="0" h="1230630">
                <a:moveTo>
                  <a:pt x="0" y="0"/>
                </a:moveTo>
                <a:lnTo>
                  <a:pt x="0" y="123063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echa 7"/>
          <p:cNvSpPr/>
          <p:nvPr/>
        </p:nvSpPr>
        <p:spPr>
          <a:xfrm>
            <a:off x="13813155" y="5280660"/>
            <a:ext cx="1085850" cy="0"/>
          </a:xfrm>
          <a:custGeom>
            <a:avLst/>
            <a:gdLst/>
            <a:ahLst/>
            <a:cxnLst/>
            <a:rect l="l" t="t" r="r" b="b"/>
            <a:pathLst>
              <a:path w="1085850" h="0">
                <a:moveTo>
                  <a:pt x="1085850" y="0"/>
                </a:moveTo>
                <a:lnTo>
                  <a:pt x="0" y="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echa 8"/>
          <p:cNvSpPr/>
          <p:nvPr/>
        </p:nvSpPr>
        <p:spPr>
          <a:xfrm>
            <a:off x="10483215" y="5280660"/>
            <a:ext cx="941070" cy="0"/>
          </a:xfrm>
          <a:custGeom>
            <a:avLst/>
            <a:gdLst/>
            <a:ahLst/>
            <a:cxnLst/>
            <a:rect l="l" t="t" r="r" b="b"/>
            <a:pathLst>
              <a:path w="941070" h="0">
                <a:moveTo>
                  <a:pt x="941070" y="0"/>
                </a:moveTo>
                <a:lnTo>
                  <a:pt x="0" y="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lecha 9"/>
          <p:cNvSpPr/>
          <p:nvPr/>
        </p:nvSpPr>
        <p:spPr>
          <a:xfrm>
            <a:off x="6863715" y="5280660"/>
            <a:ext cx="941070" cy="0"/>
          </a:xfrm>
          <a:custGeom>
            <a:avLst/>
            <a:gdLst/>
            <a:ahLst/>
            <a:cxnLst/>
            <a:rect l="l" t="t" r="r" b="b"/>
            <a:pathLst>
              <a:path w="941070" h="0">
                <a:moveTo>
                  <a:pt x="941070" y="0"/>
                </a:moveTo>
                <a:lnTo>
                  <a:pt x="0" y="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lecha 10"/>
          <p:cNvSpPr/>
          <p:nvPr/>
        </p:nvSpPr>
        <p:spPr>
          <a:xfrm>
            <a:off x="9144000" y="5895975"/>
            <a:ext cx="6949440" cy="760095"/>
          </a:xfrm>
          <a:custGeom>
            <a:avLst/>
            <a:gdLst/>
            <a:ahLst/>
            <a:cxnLst/>
            <a:rect l="l" t="t" r="r" b="b"/>
            <a:pathLst>
              <a:path w="6949440" h="760095">
                <a:moveTo>
                  <a:pt x="0" y="72390"/>
                </a:moveTo>
                <a:lnTo>
                  <a:pt x="0" y="760095"/>
                </a:lnTo>
                <a:lnTo>
                  <a:pt x="6949440" y="760095"/>
                </a:lnTo>
                <a:lnTo>
                  <a:pt x="6949440" y="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echa 11"/>
          <p:cNvSpPr/>
          <p:nvPr/>
        </p:nvSpPr>
        <p:spPr>
          <a:xfrm>
            <a:off x="3388995" y="5280660"/>
            <a:ext cx="1085850" cy="0"/>
          </a:xfrm>
          <a:custGeom>
            <a:avLst/>
            <a:gdLst/>
            <a:ahLst/>
            <a:cxnLst/>
            <a:rect l="l" t="t" r="r" b="b"/>
            <a:pathLst>
              <a:path w="1085850" h="0">
                <a:moveTo>
                  <a:pt x="1085850" y="0"/>
                </a:moveTo>
                <a:lnTo>
                  <a:pt x="0" y="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echa 12"/>
          <p:cNvSpPr/>
          <p:nvPr/>
        </p:nvSpPr>
        <p:spPr>
          <a:xfrm>
            <a:off x="2194560" y="3434715"/>
            <a:ext cx="0" cy="1230630"/>
          </a:xfrm>
          <a:custGeom>
            <a:avLst/>
            <a:gdLst/>
            <a:ahLst/>
            <a:cxnLst/>
            <a:rect l="l" t="t" r="r" b="b"/>
            <a:pathLst>
              <a:path w="0" h="1230630">
                <a:moveTo>
                  <a:pt x="0" y="1230630"/>
                </a:moveTo>
                <a:lnTo>
                  <a:pt x="0" y="0"/>
                </a:lnTo>
              </a:path>
            </a:pathLst>
          </a:custGeom>
          <a:noFill/>
          <a:ln w="21717">
            <a:solidFill>
              <a:srgbClr val="28282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so n1"/>
          <p:cNvSpPr/>
          <p:nvPr/>
        </p:nvSpPr>
        <p:spPr>
          <a:xfrm>
            <a:off x="1000125" y="2204085"/>
            <a:ext cx="2388870" cy="12306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0">
                <a:solidFill>
                  <a:srgbClr val="111111"/>
                </a:solidFill>
                <a:latin typeface="Calibri"/>
              </a:rPr>
              <a:t>Contacto y brief del cliente</a:t>
            </a:r>
          </a:p>
        </p:txBody>
      </p:sp>
      <p:sp>
        <p:nvSpPr>
          <p:cNvPr id="16" name="Número 1"/>
          <p:cNvSpPr/>
          <p:nvPr/>
        </p:nvSpPr>
        <p:spPr>
          <a:xfrm>
            <a:off x="840867" y="2044827"/>
            <a:ext cx="376428" cy="37642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Paso n2"/>
          <p:cNvSpPr/>
          <p:nvPr/>
        </p:nvSpPr>
        <p:spPr>
          <a:xfrm>
            <a:off x="4474845" y="2204085"/>
            <a:ext cx="2388870" cy="12306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0">
                <a:solidFill>
                  <a:srgbClr val="111111"/>
                </a:solidFill>
                <a:latin typeface="Calibri"/>
              </a:rPr>
              <a:t>Diagnóstico y análisis de mercado</a:t>
            </a:r>
          </a:p>
        </p:txBody>
      </p:sp>
      <p:sp>
        <p:nvSpPr>
          <p:cNvPr id="18" name="Número 2"/>
          <p:cNvSpPr/>
          <p:nvPr/>
        </p:nvSpPr>
        <p:spPr>
          <a:xfrm>
            <a:off x="4315587" y="2044827"/>
            <a:ext cx="376428" cy="37642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Paso n3"/>
          <p:cNvSpPr/>
          <p:nvPr/>
        </p:nvSpPr>
        <p:spPr>
          <a:xfrm>
            <a:off x="7949565" y="2204085"/>
            <a:ext cx="2388870" cy="12306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0">
                <a:solidFill>
                  <a:srgbClr val="111111"/>
                </a:solidFill>
                <a:latin typeface="Calibri"/>
              </a:rPr>
              <a:t>Propuesta y contrato</a:t>
            </a:r>
          </a:p>
        </p:txBody>
      </p:sp>
      <p:sp>
        <p:nvSpPr>
          <p:cNvPr id="20" name="Número 3"/>
          <p:cNvSpPr/>
          <p:nvPr/>
        </p:nvSpPr>
        <p:spPr>
          <a:xfrm>
            <a:off x="7790307" y="2044827"/>
            <a:ext cx="376428" cy="37642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Decisión n4"/>
          <p:cNvSpPr/>
          <p:nvPr/>
        </p:nvSpPr>
        <p:spPr>
          <a:xfrm>
            <a:off x="11279505" y="2131695"/>
            <a:ext cx="2678430" cy="1375410"/>
          </a:xfrm>
          <a:prstGeom prst="diamond">
            <a:avLst/>
          </a:prstGeom>
          <a:solidFill>
            <a:srgbClr val="FFE8EB"/>
          </a:solidFill>
          <a:ln w="21717">
            <a:solidFill>
              <a:srgbClr val="D00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5686" rIns="535686" tIns="18288" bIns="18288"/>
          <a:lstStyle/>
          <a:p>
            <a:pPr algn="ctr"/>
            <a:r>
              <a:rPr sz="1516" b="1">
                <a:solidFill>
                  <a:srgbClr val="111111"/>
                </a:solidFill>
                <a:latin typeface="Calibri"/>
              </a:rPr>
              <a:t>¿El cliente aprueba?</a:t>
            </a:r>
          </a:p>
        </p:txBody>
      </p:sp>
      <p:sp>
        <p:nvSpPr>
          <p:cNvPr id="22" name="Paso n5"/>
          <p:cNvSpPr/>
          <p:nvPr/>
        </p:nvSpPr>
        <p:spPr>
          <a:xfrm>
            <a:off x="14899005" y="2204085"/>
            <a:ext cx="2388870" cy="12306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0">
                <a:solidFill>
                  <a:srgbClr val="111111"/>
                </a:solidFill>
                <a:latin typeface="Calibri"/>
              </a:rPr>
              <a:t>Planificación: alcance, hitos y presupuesto</a:t>
            </a:r>
          </a:p>
        </p:txBody>
      </p:sp>
      <p:sp>
        <p:nvSpPr>
          <p:cNvPr id="23" name="Número 4"/>
          <p:cNvSpPr/>
          <p:nvPr/>
        </p:nvSpPr>
        <p:spPr>
          <a:xfrm>
            <a:off x="14739747" y="2044827"/>
            <a:ext cx="376428" cy="37642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Paso n6"/>
          <p:cNvSpPr/>
          <p:nvPr/>
        </p:nvSpPr>
        <p:spPr>
          <a:xfrm>
            <a:off x="14899005" y="4665345"/>
            <a:ext cx="2388870" cy="12306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0">
                <a:solidFill>
                  <a:srgbClr val="111111"/>
                </a:solidFill>
                <a:latin typeface="Calibri"/>
              </a:rPr>
              <a:t>Ejecución del proyecto</a:t>
            </a:r>
          </a:p>
        </p:txBody>
      </p:sp>
      <p:sp>
        <p:nvSpPr>
          <p:cNvPr id="25" name="Número 5"/>
          <p:cNvSpPr/>
          <p:nvPr/>
        </p:nvSpPr>
        <p:spPr>
          <a:xfrm>
            <a:off x="14739747" y="4506087"/>
            <a:ext cx="376428" cy="37642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Paso n7"/>
          <p:cNvSpPr/>
          <p:nvPr/>
        </p:nvSpPr>
        <p:spPr>
          <a:xfrm>
            <a:off x="11424285" y="4665345"/>
            <a:ext cx="2388870" cy="12306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0">
                <a:solidFill>
                  <a:srgbClr val="111111"/>
                </a:solidFill>
                <a:latin typeface="Calibri"/>
              </a:rPr>
              <a:t>Control: indicadores y reportes</a:t>
            </a:r>
          </a:p>
        </p:txBody>
      </p:sp>
      <p:sp>
        <p:nvSpPr>
          <p:cNvPr id="27" name="Número 6"/>
          <p:cNvSpPr/>
          <p:nvPr/>
        </p:nvSpPr>
        <p:spPr>
          <a:xfrm>
            <a:off x="11265027" y="4506087"/>
            <a:ext cx="376428" cy="37642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Decisión n8"/>
          <p:cNvSpPr/>
          <p:nvPr/>
        </p:nvSpPr>
        <p:spPr>
          <a:xfrm>
            <a:off x="7804785" y="4592955"/>
            <a:ext cx="2678430" cy="1375410"/>
          </a:xfrm>
          <a:prstGeom prst="diamond">
            <a:avLst/>
          </a:prstGeom>
          <a:solidFill>
            <a:srgbClr val="FFE8EB"/>
          </a:solidFill>
          <a:ln w="21717">
            <a:solidFill>
              <a:srgbClr val="D00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35686" rIns="535686" tIns="18288" bIns="18288"/>
          <a:lstStyle/>
          <a:p>
            <a:pPr algn="ctr"/>
            <a:r>
              <a:rPr sz="1516" b="1">
                <a:solidFill>
                  <a:srgbClr val="111111"/>
                </a:solidFill>
                <a:latin typeface="Calibri"/>
              </a:rPr>
              <a:t>¿Se cumplen los objetivos?</a:t>
            </a:r>
          </a:p>
        </p:txBody>
      </p:sp>
      <p:sp>
        <p:nvSpPr>
          <p:cNvPr id="29" name="Paso n9"/>
          <p:cNvSpPr/>
          <p:nvPr/>
        </p:nvSpPr>
        <p:spPr>
          <a:xfrm>
            <a:off x="4474845" y="4665345"/>
            <a:ext cx="2388870" cy="12306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0">
                <a:solidFill>
                  <a:srgbClr val="111111"/>
                </a:solidFill>
                <a:latin typeface="Calibri"/>
              </a:rPr>
              <a:t>Cierre y lecciones aprendidas</a:t>
            </a:r>
          </a:p>
        </p:txBody>
      </p:sp>
      <p:sp>
        <p:nvSpPr>
          <p:cNvPr id="30" name="Número 7"/>
          <p:cNvSpPr/>
          <p:nvPr/>
        </p:nvSpPr>
        <p:spPr>
          <a:xfrm>
            <a:off x="4315587" y="4506087"/>
            <a:ext cx="376428" cy="37642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Paso n10"/>
          <p:cNvSpPr/>
          <p:nvPr/>
        </p:nvSpPr>
        <p:spPr>
          <a:xfrm>
            <a:off x="1000125" y="4665345"/>
            <a:ext cx="2388870" cy="12306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0">
                <a:solidFill>
                  <a:srgbClr val="111111"/>
                </a:solidFill>
                <a:latin typeface="Calibri"/>
              </a:rPr>
              <a:t>Mejora continua y fidelización</a:t>
            </a:r>
          </a:p>
        </p:txBody>
      </p:sp>
      <p:sp>
        <p:nvSpPr>
          <p:cNvPr id="32" name="Número 8"/>
          <p:cNvSpPr/>
          <p:nvPr/>
        </p:nvSpPr>
        <p:spPr>
          <a:xfrm>
            <a:off x="840867" y="4506087"/>
            <a:ext cx="376428" cy="376428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96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Etiqueta SÍ"/>
          <p:cNvSpPr/>
          <p:nvPr/>
        </p:nvSpPr>
        <p:spPr>
          <a:xfrm>
            <a:off x="14211300" y="2493645"/>
            <a:ext cx="434340" cy="275082"/>
          </a:xfrm>
          <a:prstGeom prst="roundRect">
            <a:avLst>
              <a:gd name="adj" fmla="val 30000"/>
            </a:avLst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34" name="Etiqueta NO: ajustar"/>
          <p:cNvSpPr/>
          <p:nvPr/>
        </p:nvSpPr>
        <p:spPr>
          <a:xfrm>
            <a:off x="12159043" y="1776984"/>
            <a:ext cx="1411605" cy="275082"/>
          </a:xfrm>
          <a:prstGeom prst="roundRect">
            <a:avLst>
              <a:gd name="adj" fmla="val 30000"/>
            </a:avLst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1">
                <a:solidFill>
                  <a:srgbClr val="FFFFFF"/>
                </a:solidFill>
                <a:latin typeface="Calibri"/>
              </a:rPr>
              <a:t>NO: ajustar</a:t>
            </a:r>
          </a:p>
        </p:txBody>
      </p:sp>
      <p:sp>
        <p:nvSpPr>
          <p:cNvPr id="35" name="Etiqueta SÍ"/>
          <p:cNvSpPr/>
          <p:nvPr/>
        </p:nvSpPr>
        <p:spPr>
          <a:xfrm>
            <a:off x="7117080" y="4954905"/>
            <a:ext cx="434340" cy="275082"/>
          </a:xfrm>
          <a:prstGeom prst="roundRect">
            <a:avLst>
              <a:gd name="adj" fmla="val 30000"/>
            </a:avLst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36" name="Etiqueta NO: corregir"/>
          <p:cNvSpPr/>
          <p:nvPr/>
        </p:nvSpPr>
        <p:spPr>
          <a:xfrm>
            <a:off x="8630031" y="6174676"/>
            <a:ext cx="1520190" cy="275082"/>
          </a:xfrm>
          <a:prstGeom prst="roundRect">
            <a:avLst>
              <a:gd name="adj" fmla="val 30000"/>
            </a:avLst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1">
                <a:solidFill>
                  <a:srgbClr val="FFFFFF"/>
                </a:solidFill>
                <a:latin typeface="Calibri"/>
              </a:rPr>
              <a:t>NO: corregir</a:t>
            </a:r>
          </a:p>
        </p:txBody>
      </p:sp>
      <p:sp>
        <p:nvSpPr>
          <p:cNvPr id="37" name="Etiqueta Nuevo ciclo"/>
          <p:cNvSpPr/>
          <p:nvPr/>
        </p:nvSpPr>
        <p:spPr>
          <a:xfrm>
            <a:off x="1734883" y="3912489"/>
            <a:ext cx="1411605" cy="275082"/>
          </a:xfrm>
          <a:prstGeom prst="roundRect">
            <a:avLst>
              <a:gd name="adj" fmla="val 30000"/>
            </a:avLst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1">
                <a:solidFill>
                  <a:srgbClr val="FFFFFF"/>
                </a:solidFill>
                <a:latin typeface="Calibri"/>
              </a:rPr>
              <a:t>Nuevo ciclo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8778240"/>
            <a:ext cx="1719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66259"/>
                </a:solidFill>
                <a:latin typeface="Calibri"/>
              </a:rPr>
              <a:t>Ocho etapas con dos puntos de control: la aprobación del cliente antes de planificar y la verificación de objetivos antes de cerrar. Al final, la mejora continua abre un nuevo ciclo.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